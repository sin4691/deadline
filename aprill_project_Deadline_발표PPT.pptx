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7" r:id="rId7"/>
    <p:sldId id="271" r:id="rId8"/>
    <p:sldId id="272" r:id="rId9"/>
    <p:sldId id="273" r:id="rId10"/>
    <p:sldId id="274" r:id="rId11"/>
    <p:sldId id="275" r:id="rId12"/>
    <p:sldId id="260" r:id="rId13"/>
    <p:sldId id="261" r:id="rId14"/>
    <p:sldId id="262" r:id="rId15"/>
    <p:sldId id="263" r:id="rId16"/>
    <p:sldId id="277" r:id="rId17"/>
    <p:sldId id="266" r:id="rId18"/>
    <p:sldId id="264" r:id="rId19"/>
    <p:sldId id="276" r:id="rId20"/>
    <p:sldId id="26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70" d="100"/>
          <a:sy n="170" d="100"/>
        </p:scale>
        <p:origin x="114" y="354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presProps" Target="presProps.xml"  /><Relationship Id="rId23" Type="http://schemas.openxmlformats.org/officeDocument/2006/relationships/viewProps" Target="viewProps.xml"  /><Relationship Id="rId24" Type="http://schemas.openxmlformats.org/officeDocument/2006/relationships/theme" Target="theme/theme1.xml"  /><Relationship Id="rId25" Type="http://schemas.openxmlformats.org/officeDocument/2006/relationships/tableStyles" Target="tableStyles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1.xml"  /><Relationship Id="rId2" Type="http://schemas.openxmlformats.org/officeDocument/2006/relationships/notesMaster" Target="../notesMasters/notesMaster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slide" Target="../slides/slide12.xml"  /><Relationship Id="rId2" Type="http://schemas.openxmlformats.org/officeDocument/2006/relationships/notesMaster" Target="../notesMasters/notesMaster1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slide" Target="../slides/slide13.xml"  /><Relationship Id="rId2" Type="http://schemas.openxmlformats.org/officeDocument/2006/relationships/notesMaster" Target="../notesMasters/notesMaster1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slide" Target="../slides/slide14.xml"  /><Relationship Id="rId2" Type="http://schemas.openxmlformats.org/officeDocument/2006/relationships/notesMaster" Target="../notesMasters/notesMaster1.xml"  /></Relationships>
</file>

<file path=ppt/notesSlides/_rels/notesSlide15.xml.rels><?xml version="1.0" encoding="UTF-8" standalone="yes" ?><Relationships xmlns="http://schemas.openxmlformats.org/package/2006/relationships"><Relationship Id="rId1" Type="http://schemas.openxmlformats.org/officeDocument/2006/relationships/slide" Target="../slides/slide15.xml"  /><Relationship Id="rId2" Type="http://schemas.openxmlformats.org/officeDocument/2006/relationships/notesMaster" Target="../notesMasters/notesMaster1.xml"  /></Relationships>
</file>

<file path=ppt/notesSlides/_rels/notesSlide16.xml.rels><?xml version="1.0" encoding="UTF-8" standalone="yes" ?><Relationships xmlns="http://schemas.openxmlformats.org/package/2006/relationships"><Relationship Id="rId1" Type="http://schemas.openxmlformats.org/officeDocument/2006/relationships/slide" Target="../slides/slide16.xml"  /><Relationship Id="rId2" Type="http://schemas.openxmlformats.org/officeDocument/2006/relationships/notesMaster" Target="../notesMasters/notesMaster1.xml"  /></Relationships>
</file>

<file path=ppt/notesSlides/_rels/notesSlide17.xml.rels><?xml version="1.0" encoding="UTF-8" standalone="yes" ?><Relationships xmlns="http://schemas.openxmlformats.org/package/2006/relationships"><Relationship Id="rId1" Type="http://schemas.openxmlformats.org/officeDocument/2006/relationships/slide" Target="../slides/slide17.xml"  /><Relationship Id="rId2" Type="http://schemas.openxmlformats.org/officeDocument/2006/relationships/notesMaster" Target="../notesMasters/notesMaster1.xml"  /></Relationships>
</file>

<file path=ppt/notesSlides/_rels/notesSlide18.xml.rels><?xml version="1.0" encoding="UTF-8" standalone="yes" ?><Relationships xmlns="http://schemas.openxmlformats.org/package/2006/relationships"><Relationship Id="rId1" Type="http://schemas.openxmlformats.org/officeDocument/2006/relationships/slide" Target="../slides/slide18.xml"  /><Relationship Id="rId2" Type="http://schemas.openxmlformats.org/officeDocument/2006/relationships/notesMaster" Target="../notesMasters/notesMaster1.xml"  /></Relationships>
</file>

<file path=ppt/notesSlides/_rels/notesSlide19.xml.rels><?xml version="1.0" encoding="UTF-8" standalone="yes" ?><Relationships xmlns="http://schemas.openxmlformats.org/package/2006/relationships"><Relationship Id="rId1" Type="http://schemas.openxmlformats.org/officeDocument/2006/relationships/slide" Target="../slides/slide19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1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1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1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jpe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2.jpeg"  /><Relationship Id="rId4" Type="http://schemas.openxmlformats.org/officeDocument/2006/relationships/image" Target="../media/image3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4.png"  /><Relationship Id="rId4" Type="http://schemas.openxmlformats.org/officeDocument/2006/relationships/image" Target="../media/image5.jpe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6.png"  /><Relationship Id="rId4" Type="http://schemas.openxmlformats.org/officeDocument/2006/relationships/image" Target="../media/image7.png"  /><Relationship Id="rId5" Type="http://schemas.openxmlformats.org/officeDocument/2006/relationships/image" Target="../media/image8.png"  /><Relationship Id="rId6" Type="http://schemas.openxmlformats.org/officeDocument/2006/relationships/image" Target="../media/image9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9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0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0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1.png"  /><Relationship Id="rId4" Type="http://schemas.openxmlformats.org/officeDocument/2006/relationships/image" Target="../media/image12.png"  /><Relationship Id="rId5" Type="http://schemas.openxmlformats.org/officeDocument/2006/relationships/image" Target="../media/image13.png"  /><Relationship Id="rId6" Type="http://schemas.openxmlformats.org/officeDocument/2006/relationships/image" Target="../media/image14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1.xml"  /><Relationship Id="rId2" Type="http://schemas.openxmlformats.org/officeDocument/2006/relationships/slideLayout" Target="../slideLayouts/slideLayout1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2.xml"  /><Relationship Id="rId2" Type="http://schemas.openxmlformats.org/officeDocument/2006/relationships/slideLayout" Target="../slideLayouts/slideLayout1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3.xml"  /><Relationship Id="rId2" Type="http://schemas.openxmlformats.org/officeDocument/2006/relationships/slideLayout" Target="../slideLayouts/slideLayout1.xml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4.xml"  /><Relationship Id="rId2" Type="http://schemas.openxmlformats.org/officeDocument/2006/relationships/slideLayout" Target="../slideLayouts/slideLayout1.xml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5.xml"  /><Relationship Id="rId2" Type="http://schemas.openxmlformats.org/officeDocument/2006/relationships/slideLayout" Target="../slideLayouts/slideLayout1.xml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6.xml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7.xml"  /><Relationship Id="rId2" Type="http://schemas.openxmlformats.org/officeDocument/2006/relationships/slideLayout" Target="../slideLayouts/slideLayout1.xml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8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5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9.xml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0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2D3140">
              <a:alpha val="60000"/>
            </a:srgbClr>
          </a:solidFill>
          <a:ln w="12700">
            <a:solidFill>
              <a:srgbClr val="1E20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4572000" cy="868680"/>
          </a:xfrm>
          <a:prstGeom prst="rect">
            <a:avLst/>
          </a:prstGeom>
          <a:noFill/>
          <a:ln/>
          <a:effectLst>
            <a:outerShdw blurRad="127000" dist="25400" dir="8100000" algn="bl" rotWithShape="0">
              <a:srgbClr val="00000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kern="0" spc="500" dirty="0">
                <a:solidFill>
                  <a:srgbClr val="F2F4F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DEADLINE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13533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i="1" dirty="0" smtClean="0">
                <a:solidFill>
                  <a:srgbClr val="B0B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생존해서 임무를 완수해라</a:t>
            </a:r>
            <a:r>
              <a:rPr lang="en-US" sz="1300" i="1" dirty="0" smtClean="0">
                <a:solidFill>
                  <a:srgbClr val="B0B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i="1" dirty="0">
                <a:solidFill>
                  <a:srgbClr val="B0B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First-Person Horror Game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200400" cy="0"/>
          </a:xfrm>
          <a:prstGeom prst="line">
            <a:avLst/>
          </a:prstGeom>
          <a:noFill/>
          <a:ln w="19050">
            <a:solidFill>
              <a:srgbClr val="5B8D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9202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기반 1인칭 공포 게임</a:t>
            </a:r>
            <a:endParaRPr lang="en-US" sz="13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지하철 배경 · 아이템 수집 · 타이머 제한</a:t>
            </a:r>
            <a:endParaRPr lang="en-US" sz="13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NavMesh AI 몬스터 · 사운드 반응형 추적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303520" y="365760"/>
            <a:ext cx="3474720" cy="4389120"/>
          </a:xfrm>
          <a:prstGeom prst="rect">
            <a:avLst/>
          </a:prstGeom>
          <a:solidFill>
            <a:srgbClr val="2A2D35"/>
          </a:solidFill>
          <a:ln w="6350">
            <a:solidFill>
              <a:srgbClr val="7A8394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  <a:softEdge rad="0"/>
          </a:effectLst>
        </p:spPr>
      </p:sp>
      <p:sp>
        <p:nvSpPr>
          <p:cNvPr id="8" name="Text 6"/>
          <p:cNvSpPr/>
          <p:nvPr/>
        </p:nvSpPr>
        <p:spPr>
          <a:xfrm>
            <a:off x="5486400" y="640080"/>
            <a:ext cx="3108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100" dirty="0">
                <a:solidFill>
                  <a:srgbClr val="7A83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Deadline.cs
</a:t>
            </a:r>
            <a:endParaRPr lang="en-US" sz="110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enum </a:t>
            </a:r>
            <a:r>
              <a:rPr lang="en-US" sz="110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 </a:t>
            </a: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10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F2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00" dirty="0" smtClean="0">
                <a:solidFill>
                  <a:srgbClr val="F2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Idle, </a:t>
            </a:r>
            <a:r>
              <a:rPr lang="en-US" sz="1100" dirty="0" err="1" smtClean="0">
                <a:solidFill>
                  <a:srgbClr val="F2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ChasePlayer</a:t>
            </a:r>
            <a:r>
              <a:rPr lang="en-US" sz="1100" dirty="0" smtClean="0">
                <a:solidFill>
                  <a:srgbClr val="F2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>
              <a:solidFill>
                <a:srgbClr val="F2F4F8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F2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 smtClean="0">
                <a:solidFill>
                  <a:srgbClr val="F2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Wander, Blocked</a:t>
            </a:r>
            <a:r>
              <a:rPr lang="en-US" sz="1100" dirty="0">
                <a:solidFill>
                  <a:srgbClr val="F2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 smtClean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00" dirty="0" smtClean="0">
                <a:solidFill>
                  <a:srgbClr val="F2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100" dirty="0">
                <a:solidFill>
                  <a:srgbClr val="F2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OnNoiseHeard</a:t>
            </a:r>
            <a:r>
              <a:rPr lang="en-US" sz="1100" dirty="0">
                <a:solidFill>
                  <a:srgbClr val="F2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
</a:t>
            </a:r>
            <a:endParaRPr lang="en-US" sz="110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00" dirty="0">
                <a:solidFill>
                  <a:srgbClr val="F2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00" dirty="0">
                <a:solidFill>
                  <a:srgbClr val="7BA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</a:t>
            </a:r>
            <a:r>
              <a:rPr lang="en-US" sz="1100" dirty="0">
                <a:solidFill>
                  <a:srgbClr val="F2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State.</a:t>
            </a:r>
            <a:r>
              <a:rPr lang="en-US" sz="110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Chase;
</a:t>
            </a:r>
            <a:endParaRPr lang="en-US" sz="110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00" dirty="0">
                <a:solidFill>
                  <a:srgbClr val="F2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nav.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SetDestination</a:t>
            </a:r>
            <a:r>
              <a:rPr lang="en-US" sz="1100" dirty="0">
                <a:solidFill>
                  <a:srgbClr val="F2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(pos);
</a:t>
            </a:r>
            <a:endParaRPr lang="en-US" sz="110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00" dirty="0">
                <a:solidFill>
                  <a:srgbClr val="F2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7A83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GAME DEVELOPMENT PRESENTATION  ·  </a:t>
            </a:r>
            <a:r>
              <a:rPr lang="en-US" sz="900" kern="0" spc="200" dirty="0" smtClean="0">
                <a:solidFill>
                  <a:srgbClr val="7A83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 </a:t>
            </a:r>
            <a:r>
              <a:rPr lang="en-US" sz="900" kern="0" spc="200" dirty="0">
                <a:solidFill>
                  <a:srgbClr val="7A83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2">
    <p:bg>
      <p:bgPr shadeToTitle="0">
        <a:solidFill>
          <a:srgbClr val="1e20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900" b="1" kern="0" spc="300">
                <a:solidFill>
                  <a:srgbClr val="5b8def"/>
                </a:solidFill>
                <a:latin typeface="Consolas"/>
                <a:ea typeface="Consolas"/>
                <a:cs typeface="Consolas"/>
              </a:rPr>
              <a:t>// 01. INTRO</a:t>
            </a:r>
            <a:endParaRPr lang="en-US" sz="900"/>
          </a:p>
        </p:txBody>
      </p:sp>
      <p:sp>
        <p:nvSpPr>
          <p:cNvPr id="3" name="Shape 1"/>
          <p:cNvSpPr/>
          <p:nvPr/>
        </p:nvSpPr>
        <p:spPr>
          <a:xfrm>
            <a:off x="2514600" y="384048"/>
            <a:ext cx="365760" cy="0"/>
          </a:xfrm>
          <a:prstGeom prst="line">
            <a:avLst/>
          </a:prstGeom>
          <a:noFill/>
          <a:ln w="12700">
            <a:solidFill>
              <a:srgbClr val="5b8def"/>
            </a:solidFill>
            <a:prstDash val="solid"/>
          </a:ln>
        </p:spPr>
        <p:txBody>
          <a:bodyPr wrap="square"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3800" b="1" kern="0" spc="400">
                <a:solidFill>
                  <a:srgbClr val="f2f4f8"/>
                </a:solidFill>
                <a:latin typeface="Impact"/>
                <a:ea typeface="Impact"/>
                <a:cs typeface="Impact"/>
              </a:rPr>
              <a:t>개발자 소개</a:t>
            </a:r>
            <a:endParaRPr lang="en-US" sz="3800" b="1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12700">
            <a:solidFill>
              <a:srgbClr val="5b8def"/>
            </a:solidFill>
            <a:prstDash val="solid"/>
          </a:ln>
        </p:spPr>
        <p:txBody>
          <a:bodyPr wrap="square"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931920" cy="3108960"/>
          </a:xfrm>
          <a:prstGeom prst="rect">
            <a:avLst/>
          </a:prstGeom>
          <a:solidFill>
            <a:srgbClr val="2a2d35"/>
          </a:solidFill>
          <a:ln w="6350">
            <a:solidFill>
              <a:srgbClr val="5b8def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54864" cy="3108960"/>
          </a:xfrm>
          <a:prstGeom prst="rect">
            <a:avLst/>
          </a:prstGeom>
          <a:solidFill>
            <a:srgbClr val="5b8def"/>
          </a:solidFill>
          <a:ln/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1300" b="1" kern="0" spc="200">
                <a:solidFill>
                  <a:srgbClr val="5b8def"/>
                </a:solidFill>
                <a:latin typeface="Consolas"/>
                <a:ea typeface="Consolas"/>
                <a:cs typeface="Consolas"/>
              </a:rPr>
              <a:t>개발자 정보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685800" y="214884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lvl="0" indent="0">
              <a:lnSpc>
                <a:spcPct val="200000"/>
              </a:lnSpc>
              <a:buNone/>
              <a:defRPr/>
            </a:pPr>
            <a:r>
              <a:rPr lang="en-US" sz="1300" b="1">
                <a:solidFill>
                  <a:srgbClr val="7a8394"/>
                </a:solidFill>
                <a:latin typeface="Consolas"/>
                <a:ea typeface="Consolas"/>
                <a:cs typeface="Consolas"/>
              </a:rPr>
              <a:t>이름</a:t>
            </a:r>
            <a:r>
              <a:rPr lang="en-US" sz="1400">
                <a:solidFill>
                  <a:srgbClr val="f2f4f8"/>
                </a:solidFill>
                <a:latin typeface="Calibri"/>
                <a:ea typeface="Calibri"/>
                <a:cs typeface="Calibri"/>
              </a:rPr>
              <a:t>  </a:t>
            </a:r>
            <a:r>
              <a:rPr lang="ko-KR" altLang="en-US" sz="1400">
                <a:solidFill>
                  <a:srgbClr val="f2f4f8"/>
                </a:solidFill>
                <a:latin typeface="Calibri"/>
                <a:ea typeface="Calibri"/>
                <a:cs typeface="Calibri"/>
              </a:rPr>
              <a:t>신재윤</a:t>
            </a:r>
            <a:endParaRPr lang="ko-KR" altLang="en-US" sz="1400">
              <a:solidFill>
                <a:srgbClr val="f2f4f8"/>
              </a:solidFill>
              <a:latin typeface="Calibri"/>
              <a:ea typeface="Calibri"/>
              <a:cs typeface="Calibri"/>
            </a:endParaRPr>
          </a:p>
          <a:p>
            <a:pPr marL="0" lvl="0" indent="0">
              <a:lnSpc>
                <a:spcPct val="200000"/>
              </a:lnSpc>
              <a:buNone/>
              <a:defRPr/>
            </a:pPr>
            <a:endParaRPr lang="en-US" sz="1300"/>
          </a:p>
          <a:p>
            <a:pPr marL="0" lvl="0" indent="0">
              <a:lnSpc>
                <a:spcPct val="200000"/>
              </a:lnSpc>
              <a:buNone/>
              <a:defRPr/>
            </a:pPr>
            <a:r>
              <a:rPr lang="en-US" sz="1300" b="1">
                <a:solidFill>
                  <a:srgbClr val="7a8394"/>
                </a:solidFill>
                <a:latin typeface="Consolas"/>
                <a:ea typeface="Consolas"/>
                <a:cs typeface="Consolas"/>
              </a:rPr>
              <a:t>소속</a:t>
            </a:r>
            <a:r>
              <a:rPr lang="en-US" sz="1400">
                <a:solidFill>
                  <a:srgbClr val="f2f4f8"/>
                </a:solidFill>
                <a:latin typeface="Calibri"/>
                <a:ea typeface="Calibri"/>
                <a:cs typeface="Calibri"/>
              </a:rPr>
              <a:t>  </a:t>
            </a:r>
            <a:r>
              <a:rPr lang="ko-KR" altLang="en-US" sz="1400">
                <a:solidFill>
                  <a:srgbClr val="f2f4f8"/>
                </a:solidFill>
                <a:latin typeface="Calibri"/>
                <a:ea typeface="Calibri"/>
                <a:cs typeface="Calibri"/>
              </a:rPr>
              <a:t>디벨로켓 유니티 개발</a:t>
            </a:r>
            <a:endParaRPr lang="ko-KR" altLang="en-US" sz="1400">
              <a:solidFill>
                <a:srgbClr val="f2f4f8"/>
              </a:solidFill>
              <a:latin typeface="Calibri"/>
              <a:ea typeface="Calibri"/>
              <a:cs typeface="Calibri"/>
            </a:endParaRPr>
          </a:p>
          <a:p>
            <a:pPr marL="0" lvl="0" indent="0">
              <a:lnSpc>
                <a:spcPct val="200000"/>
              </a:lnSpc>
              <a:buNone/>
              <a:defRPr/>
            </a:pPr>
            <a:endParaRPr lang="en-US" sz="1300"/>
          </a:p>
          <a:p>
            <a:pPr marL="0" lvl="0" indent="0">
              <a:lnSpc>
                <a:spcPct val="200000"/>
              </a:lnSpc>
              <a:buNone/>
              <a:defRPr/>
            </a:pPr>
            <a:r>
              <a:rPr lang="ko-KR" altLang="en-US" sz="1300" b="1">
                <a:solidFill>
                  <a:srgbClr val="7a8394"/>
                </a:solidFill>
                <a:latin typeface="Consolas"/>
                <a:ea typeface="Consolas"/>
                <a:cs typeface="Consolas"/>
              </a:rPr>
              <a:t>직책</a:t>
            </a:r>
            <a:r>
              <a:rPr lang="en-US" sz="1400">
                <a:solidFill>
                  <a:srgbClr val="f2f4f8"/>
                </a:solidFill>
                <a:latin typeface="Calibri"/>
                <a:ea typeface="Calibri"/>
                <a:cs typeface="Calibri"/>
              </a:rPr>
              <a:t>  1인 개발 (Solo Dev)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4754880" y="1554480"/>
            <a:ext cx="3931920" cy="640080"/>
          </a:xfrm>
          <a:prstGeom prst="rect">
            <a:avLst/>
          </a:prstGeom>
          <a:solidFill>
            <a:srgbClr val="2a2d35"/>
          </a:solidFill>
          <a:ln w="6350">
            <a:solidFill>
              <a:srgbClr val="5b8def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754880" y="1554480"/>
            <a:ext cx="54864" cy="640080"/>
          </a:xfrm>
          <a:prstGeom prst="rect">
            <a:avLst/>
          </a:prstGeom>
          <a:solidFill>
            <a:srgbClr val="7ba7ff"/>
          </a:solidFill>
          <a:ln/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937760" y="16276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800" b="1" kern="0" spc="200">
                <a:solidFill>
                  <a:srgbClr val="5b8def"/>
                </a:solidFill>
                <a:latin typeface="Consolas"/>
                <a:ea typeface="Consolas"/>
                <a:cs typeface="Consolas"/>
              </a:rPr>
              <a:t>ENGINE</a:t>
            </a:r>
            <a:endParaRPr lang="en-US" sz="800"/>
          </a:p>
        </p:txBody>
      </p:sp>
      <p:sp>
        <p:nvSpPr>
          <p:cNvPr id="13" name="Text 11"/>
          <p:cNvSpPr/>
          <p:nvPr/>
        </p:nvSpPr>
        <p:spPr>
          <a:xfrm>
            <a:off x="4937760" y="18470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1300">
                <a:solidFill>
                  <a:srgbClr val="f2f4f8"/>
                </a:solidFill>
                <a:latin typeface="Calibri"/>
                <a:ea typeface="Calibri"/>
                <a:cs typeface="Calibri"/>
              </a:rPr>
              <a:t>Unity 6.3 LTS</a:t>
            </a:r>
            <a:endParaRPr lang="en-US" sz="1300"/>
          </a:p>
        </p:txBody>
      </p:sp>
      <p:sp>
        <p:nvSpPr>
          <p:cNvPr id="14" name="Shape 12"/>
          <p:cNvSpPr/>
          <p:nvPr/>
        </p:nvSpPr>
        <p:spPr>
          <a:xfrm>
            <a:off x="4754880" y="2304288"/>
            <a:ext cx="3931920" cy="640080"/>
          </a:xfrm>
          <a:prstGeom prst="rect">
            <a:avLst/>
          </a:prstGeom>
          <a:solidFill>
            <a:srgbClr val="2a2d35"/>
          </a:solidFill>
          <a:ln w="6350">
            <a:solidFill>
              <a:srgbClr val="5b8def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754880" y="2304288"/>
            <a:ext cx="54864" cy="640080"/>
          </a:xfrm>
          <a:prstGeom prst="rect">
            <a:avLst/>
          </a:prstGeom>
          <a:solidFill>
            <a:srgbClr val="7a8394"/>
          </a:solidFill>
          <a:ln/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937760" y="23774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800" b="1" kern="0" spc="200">
                <a:solidFill>
                  <a:srgbClr val="5b8def"/>
                </a:solidFill>
                <a:latin typeface="Consolas"/>
                <a:ea typeface="Consolas"/>
                <a:cs typeface="Consolas"/>
              </a:rPr>
              <a:t>LANGUAGE</a:t>
            </a:r>
            <a:endParaRPr lang="en-US" sz="800"/>
          </a:p>
        </p:txBody>
      </p:sp>
      <p:sp>
        <p:nvSpPr>
          <p:cNvPr id="17" name="Text 15"/>
          <p:cNvSpPr/>
          <p:nvPr/>
        </p:nvSpPr>
        <p:spPr>
          <a:xfrm>
            <a:off x="4937760" y="25968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1300">
                <a:solidFill>
                  <a:srgbClr val="f2f4f8"/>
                </a:solidFill>
                <a:latin typeface="Calibri"/>
                <a:ea typeface="Calibri"/>
                <a:cs typeface="Calibri"/>
              </a:rPr>
              <a:t>C#</a:t>
            </a:r>
            <a:endParaRPr lang="en-US" sz="1300"/>
          </a:p>
        </p:txBody>
      </p:sp>
      <p:sp>
        <p:nvSpPr>
          <p:cNvPr id="18" name="Shape 16"/>
          <p:cNvSpPr/>
          <p:nvPr/>
        </p:nvSpPr>
        <p:spPr>
          <a:xfrm>
            <a:off x="4754880" y="3054096"/>
            <a:ext cx="3931920" cy="640080"/>
          </a:xfrm>
          <a:prstGeom prst="rect">
            <a:avLst/>
          </a:prstGeom>
          <a:solidFill>
            <a:srgbClr val="2a2d35"/>
          </a:solidFill>
          <a:ln w="6350">
            <a:solidFill>
              <a:srgbClr val="5b8def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754880" y="3054096"/>
            <a:ext cx="54864" cy="640080"/>
          </a:xfrm>
          <a:prstGeom prst="rect">
            <a:avLst/>
          </a:prstGeom>
          <a:solidFill>
            <a:srgbClr val="7a8394"/>
          </a:solidFill>
          <a:ln/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937760" y="31272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800" b="1" kern="0" spc="200">
                <a:solidFill>
                  <a:srgbClr val="5b8def"/>
                </a:solidFill>
                <a:latin typeface="Consolas"/>
                <a:ea typeface="Consolas"/>
                <a:cs typeface="Consolas"/>
              </a:rPr>
              <a:t>TOOLS</a:t>
            </a:r>
            <a:endParaRPr lang="en-US" sz="800"/>
          </a:p>
        </p:txBody>
      </p:sp>
      <p:sp>
        <p:nvSpPr>
          <p:cNvPr id="21" name="Text 19"/>
          <p:cNvSpPr/>
          <p:nvPr/>
        </p:nvSpPr>
        <p:spPr>
          <a:xfrm>
            <a:off x="4937760" y="33467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1300">
                <a:solidFill>
                  <a:srgbClr val="f2f4f8"/>
                </a:solidFill>
                <a:latin typeface="Calibri"/>
                <a:ea typeface="Calibri"/>
                <a:cs typeface="Calibri"/>
              </a:rPr>
              <a:t>NavMesh · New Input System · AudioMixer</a:t>
            </a:r>
            <a:endParaRPr lang="en-US" sz="1300"/>
          </a:p>
        </p:txBody>
      </p:sp>
      <p:sp>
        <p:nvSpPr>
          <p:cNvPr id="22" name="Shape 20"/>
          <p:cNvSpPr/>
          <p:nvPr/>
        </p:nvSpPr>
        <p:spPr>
          <a:xfrm>
            <a:off x="4754880" y="3803904"/>
            <a:ext cx="3931920" cy="640080"/>
          </a:xfrm>
          <a:prstGeom prst="rect">
            <a:avLst/>
          </a:prstGeom>
          <a:solidFill>
            <a:srgbClr val="2a2d35"/>
          </a:solidFill>
          <a:ln w="6350">
            <a:solidFill>
              <a:srgbClr val="5b8def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754880" y="3803904"/>
            <a:ext cx="54864" cy="640080"/>
          </a:xfrm>
          <a:prstGeom prst="rect">
            <a:avLst/>
          </a:prstGeom>
          <a:solidFill>
            <a:srgbClr val="7a8394"/>
          </a:solidFill>
          <a:ln/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937760" y="38770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800" b="1" kern="0" spc="200">
                <a:solidFill>
                  <a:srgbClr val="5b8def"/>
                </a:solidFill>
                <a:latin typeface="Consolas"/>
                <a:ea typeface="Consolas"/>
                <a:cs typeface="Consolas"/>
              </a:rPr>
              <a:t>ASSET</a:t>
            </a:r>
            <a:endParaRPr lang="en-US" sz="800"/>
          </a:p>
        </p:txBody>
      </p:sp>
      <p:sp>
        <p:nvSpPr>
          <p:cNvPr id="25" name="Text 23"/>
          <p:cNvSpPr/>
          <p:nvPr/>
        </p:nvSpPr>
        <p:spPr>
          <a:xfrm>
            <a:off x="4937760" y="40965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1300">
                <a:solidFill>
                  <a:srgbClr val="f2f4f8"/>
                </a:solidFill>
                <a:latin typeface="Calibri"/>
                <a:ea typeface="Calibri"/>
                <a:cs typeface="Calibri"/>
              </a:rPr>
              <a:t>Dark Horror UI, DunGen, Subway Modular</a:t>
            </a:r>
            <a:endParaRPr lang="en-US" sz="1300"/>
          </a:p>
        </p:txBody>
      </p:sp>
      <p:sp>
        <p:nvSpPr>
          <p:cNvPr id="26" name="Text 24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800" kern="0" spc="200">
                <a:solidFill>
                  <a:srgbClr val="7a8394"/>
                </a:solidFill>
                <a:latin typeface="Consolas"/>
                <a:ea typeface="Consolas"/>
                <a:cs typeface="Consolas"/>
              </a:rPr>
              <a:t>DEADLINE  ·  Game Dev Presentation</a:t>
            </a:r>
            <a:endParaRPr lang="en-US" sz="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3">
    <p:bg>
      <p:bgPr shadeToTitle="0">
        <a:solidFill>
          <a:srgbClr val="1e20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900" b="1" kern="0" spc="300">
                <a:solidFill>
                  <a:srgbClr val="5b8def"/>
                </a:solidFill>
                <a:latin typeface="Consolas"/>
                <a:ea typeface="Consolas"/>
                <a:cs typeface="Consolas"/>
              </a:rPr>
              <a:t>// 02. CONCEPT</a:t>
            </a:r>
            <a:endParaRPr lang="en-US" sz="900"/>
          </a:p>
        </p:txBody>
      </p:sp>
      <p:sp>
        <p:nvSpPr>
          <p:cNvPr id="3" name="Shape 1"/>
          <p:cNvSpPr/>
          <p:nvPr/>
        </p:nvSpPr>
        <p:spPr>
          <a:xfrm>
            <a:off x="2514600" y="384048"/>
            <a:ext cx="365760" cy="0"/>
          </a:xfrm>
          <a:prstGeom prst="line">
            <a:avLst/>
          </a:prstGeom>
          <a:noFill/>
          <a:ln w="12700">
            <a:solidFill>
              <a:srgbClr val="5b8def"/>
            </a:solidFill>
            <a:prstDash val="solid"/>
          </a:ln>
        </p:spPr>
        <p:txBody>
          <a:bodyPr wrap="square"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3600" b="1" kern="0" spc="300">
                <a:solidFill>
                  <a:srgbClr val="f2f4f8"/>
                </a:solidFill>
                <a:latin typeface="Impact"/>
                <a:ea typeface="Impact"/>
                <a:cs typeface="Impact"/>
              </a:rPr>
              <a:t>기획 의도 &amp; 개발 컨셉</a:t>
            </a:r>
            <a:endParaRPr lang="en-US" sz="3600" b="1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12700">
            <a:solidFill>
              <a:srgbClr val="5b8def"/>
            </a:solidFill>
            <a:prstDash val="solid"/>
          </a:ln>
        </p:spPr>
        <p:txBody>
          <a:bodyPr wrap="square"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303520" cy="960120"/>
          </a:xfrm>
          <a:prstGeom prst="rect">
            <a:avLst/>
          </a:prstGeom>
          <a:solidFill>
            <a:srgbClr val="2a2d35"/>
          </a:solidFill>
          <a:ln w="6350">
            <a:solidFill>
              <a:srgbClr val="5b8def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54864" cy="960120"/>
          </a:xfrm>
          <a:prstGeom prst="rect">
            <a:avLst/>
          </a:prstGeom>
          <a:solidFill>
            <a:srgbClr val="7ba7ff"/>
          </a:solidFill>
          <a:ln/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080" y="15727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900" b="1" kern="0" spc="200">
                <a:solidFill>
                  <a:srgbClr val="5b8def"/>
                </a:solidFill>
                <a:latin typeface="Consolas"/>
                <a:ea typeface="Consolas"/>
                <a:cs typeface="Consolas"/>
              </a:rPr>
              <a:t>INSPIRATION</a:t>
            </a:r>
            <a:endParaRPr lang="en-US" sz="900"/>
          </a:p>
        </p:txBody>
      </p:sp>
      <p:sp>
        <p:nvSpPr>
          <p:cNvPr id="9" name="Text 7"/>
          <p:cNvSpPr/>
          <p:nvPr/>
        </p:nvSpPr>
        <p:spPr>
          <a:xfrm>
            <a:off x="640080" y="181051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1400">
                <a:solidFill>
                  <a:srgbClr val="f2f4f8"/>
                </a:solidFill>
                <a:latin typeface="Calibri"/>
                <a:ea typeface="Calibri"/>
                <a:cs typeface="Calibri"/>
              </a:rPr>
              <a:t>Lethal Company</a:t>
            </a:r>
            <a:r>
              <a:rPr lang="ko-KR" altLang="en-US" sz="1400">
                <a:solidFill>
                  <a:srgbClr val="f2f4f8"/>
                </a:solidFill>
                <a:latin typeface="Calibri"/>
                <a:ea typeface="Calibri"/>
                <a:cs typeface="Calibri"/>
              </a:rPr>
              <a:t> 벤치마킹</a:t>
            </a:r>
            <a:r>
              <a:rPr lang="en-US" sz="1400">
                <a:solidFill>
                  <a:srgbClr val="f2f4f8"/>
                </a:solidFill>
                <a:latin typeface="Calibri"/>
                <a:ea typeface="Calibri"/>
                <a:cs typeface="Calibri"/>
              </a:rPr>
              <a:t> — 지하철</a:t>
            </a:r>
            <a:r>
              <a:rPr lang="ko-KR" altLang="en-US" sz="1400">
                <a:solidFill>
                  <a:srgbClr val="f2f4f8"/>
                </a:solidFill>
                <a:latin typeface="Calibri"/>
                <a:ea typeface="Calibri"/>
                <a:cs typeface="Calibri"/>
              </a:rPr>
              <a:t> 배경의 </a:t>
            </a:r>
            <a:r>
              <a:rPr lang="en-US" sz="1400">
                <a:solidFill>
                  <a:srgbClr val="f2f4f8"/>
                </a:solidFill>
                <a:latin typeface="Calibri"/>
                <a:ea typeface="Calibri"/>
                <a:cs typeface="Calibri"/>
              </a:rPr>
              <a:t>공포 생존 게임</a:t>
            </a:r>
            <a:endParaRPr lang="en-US" sz="1400">
              <a:solidFill>
                <a:srgbClr val="f2f4f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5303520" cy="2194560"/>
          </a:xfrm>
          <a:prstGeom prst="rect">
            <a:avLst/>
          </a:prstGeom>
          <a:solidFill>
            <a:srgbClr val="2a2d35"/>
          </a:solidFill>
          <a:ln w="6350">
            <a:solidFill>
              <a:srgbClr val="5b8def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57200" y="2606040"/>
            <a:ext cx="54864" cy="2194560"/>
          </a:xfrm>
          <a:prstGeom prst="rect">
            <a:avLst/>
          </a:prstGeom>
          <a:solidFill>
            <a:srgbClr val="7a8394"/>
          </a:solidFill>
          <a:ln/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40080" y="2697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ko-KR" altLang="en-US" sz="1100" b="1" kern="0" spc="200">
                <a:solidFill>
                  <a:srgbClr val="b0b8c8"/>
                </a:solidFill>
                <a:latin typeface="Consolas"/>
                <a:ea typeface="Consolas"/>
                <a:cs typeface="Consolas"/>
              </a:rPr>
              <a:t>기획 방향</a:t>
            </a:r>
            <a:endParaRPr lang="ko-KR" altLang="en-US" sz="1100" b="1" kern="0" spc="200">
              <a:solidFill>
                <a:srgbClr val="b0b8c8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" y="301752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342900" lvl="0" indent="-342900">
              <a:lnSpc>
                <a:spcPct val="150000"/>
              </a:lnSpc>
              <a:buSzPct val="100000"/>
              <a:buChar char="•"/>
              <a:defRPr/>
            </a:pPr>
            <a:r>
              <a:rPr lang="en-US" sz="1200">
                <a:solidFill>
                  <a:srgbClr val="f2f4f8"/>
                </a:solidFill>
                <a:latin typeface="Calibri"/>
                <a:ea typeface="Calibri"/>
                <a:cs typeface="Calibri"/>
              </a:rPr>
              <a:t>공포와 긴장감 중심의 플레이어 경험 설계</a:t>
            </a:r>
            <a:endParaRPr lang="en-US" sz="1200">
              <a:solidFill>
                <a:srgbClr val="f2f4f8"/>
              </a:solidFill>
              <a:latin typeface="Calibri"/>
              <a:ea typeface="Calibri"/>
              <a:cs typeface="Calibri"/>
            </a:endParaRPr>
          </a:p>
          <a:p>
            <a:pPr marL="342900" lvl="0" indent="-342900">
              <a:lnSpc>
                <a:spcPct val="150000"/>
              </a:lnSpc>
              <a:buSzPct val="100000"/>
              <a:buChar char="•"/>
              <a:defRPr/>
            </a:pPr>
            <a:r>
              <a:rPr lang="en-US" sz="1200">
                <a:solidFill>
                  <a:srgbClr val="f2f4f8"/>
                </a:solidFill>
                <a:latin typeface="Calibri"/>
                <a:ea typeface="Calibri"/>
                <a:cs typeface="Calibri"/>
              </a:rPr>
              <a:t>한</a:t>
            </a:r>
            <a:r>
              <a:rPr lang="ko-KR" altLang="en-US" sz="1200">
                <a:solidFill>
                  <a:srgbClr val="f2f4f8"/>
                </a:solidFill>
                <a:latin typeface="Calibri"/>
                <a:ea typeface="Calibri"/>
                <a:cs typeface="Calibri"/>
              </a:rPr>
              <a:t>정</a:t>
            </a:r>
            <a:r>
              <a:rPr lang="en-US" sz="1200">
                <a:solidFill>
                  <a:srgbClr val="f2f4f8"/>
                </a:solidFill>
                <a:latin typeface="Calibri"/>
                <a:ea typeface="Calibri"/>
                <a:cs typeface="Calibri"/>
              </a:rPr>
              <a:t>된 </a:t>
            </a:r>
            <a:r>
              <a:rPr lang="ko-KR" altLang="en-US" sz="1200">
                <a:solidFill>
                  <a:srgbClr val="f2f4f8"/>
                </a:solidFill>
                <a:latin typeface="Calibri"/>
                <a:ea typeface="Calibri"/>
                <a:cs typeface="Calibri"/>
              </a:rPr>
              <a:t>공간</a:t>
            </a:r>
            <a:r>
              <a:rPr lang="en-US" sz="1200">
                <a:solidFill>
                  <a:srgbClr val="f2f4f8"/>
                </a:solidFill>
                <a:latin typeface="Calibri"/>
                <a:ea typeface="Calibri"/>
                <a:cs typeface="Calibri"/>
              </a:rPr>
              <a:t> 내</a:t>
            </a:r>
            <a:r>
              <a:rPr lang="ko-KR" altLang="en-US" sz="1200">
                <a:solidFill>
                  <a:srgbClr val="f2f4f8"/>
                </a:solidFill>
                <a:latin typeface="Calibri"/>
                <a:ea typeface="Calibri"/>
                <a:cs typeface="Calibri"/>
              </a:rPr>
              <a:t>에서</a:t>
            </a:r>
            <a:r>
              <a:rPr lang="en-US" sz="1200">
                <a:solidFill>
                  <a:srgbClr val="f2f4f8"/>
                </a:solidFill>
                <a:latin typeface="Calibri"/>
                <a:ea typeface="Calibri"/>
                <a:cs typeface="Calibri"/>
              </a:rPr>
              <a:t> 목표 달성이라는 명확한 게임 구조</a:t>
            </a:r>
            <a:endParaRPr lang="en-US" sz="1200">
              <a:solidFill>
                <a:srgbClr val="f2f4f8"/>
              </a:solidFill>
              <a:latin typeface="Calibri"/>
              <a:ea typeface="Calibri"/>
              <a:cs typeface="Calibri"/>
            </a:endParaRPr>
          </a:p>
          <a:p>
            <a:pPr marL="342900" lvl="0" indent="-342900">
              <a:lnSpc>
                <a:spcPct val="150000"/>
              </a:lnSpc>
              <a:buSzPct val="100000"/>
              <a:buChar char="•"/>
              <a:defRPr/>
            </a:pPr>
            <a:r>
              <a:rPr lang="en-US" sz="1200">
                <a:solidFill>
                  <a:srgbClr val="f2f4f8"/>
                </a:solidFill>
                <a:latin typeface="Calibri"/>
                <a:ea typeface="Calibri"/>
                <a:cs typeface="Calibri"/>
              </a:rPr>
              <a:t>지하철이라는 익숙하지만 비일상적인 공간 활용</a:t>
            </a:r>
            <a:endParaRPr lang="en-US" sz="1200">
              <a:solidFill>
                <a:srgbClr val="f2f4f8"/>
              </a:solidFill>
              <a:latin typeface="Calibri"/>
              <a:ea typeface="Calibri"/>
              <a:cs typeface="Calibri"/>
            </a:endParaRPr>
          </a:p>
          <a:p>
            <a:pPr marL="342900" lvl="0" indent="-342900">
              <a:lnSpc>
                <a:spcPct val="150000"/>
              </a:lnSpc>
              <a:buSzPct val="100000"/>
              <a:buChar char="•"/>
              <a:defRPr/>
            </a:pPr>
            <a:r>
              <a:rPr lang="en-US" sz="1200">
                <a:solidFill>
                  <a:srgbClr val="f2f4f8"/>
                </a:solidFill>
                <a:latin typeface="Calibri"/>
                <a:ea typeface="Calibri"/>
                <a:cs typeface="Calibri"/>
              </a:rPr>
              <a:t>혼자서도 핵심 시스템을 깊이 구현할 수 있는 규모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5943600" y="1508760"/>
            <a:ext cx="2743200" cy="3291840"/>
          </a:xfrm>
          <a:prstGeom prst="rect">
            <a:avLst/>
          </a:prstGeom>
          <a:solidFill>
            <a:srgbClr val="23262e"/>
          </a:solidFill>
          <a:ln w="12700">
            <a:solidFill>
              <a:srgbClr val="2d3140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080760" y="16276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000" b="1" kern="0" spc="200">
                <a:solidFill>
                  <a:srgbClr val="5b8def"/>
                </a:solidFill>
                <a:latin typeface="Consolas"/>
                <a:ea typeface="Consolas"/>
                <a:cs typeface="Consolas"/>
              </a:rPr>
              <a:t>CORE LOOP</a:t>
            </a:r>
            <a:endParaRPr lang="en-US" sz="1000"/>
          </a:p>
        </p:txBody>
      </p:sp>
      <p:sp>
        <p:nvSpPr>
          <p:cNvPr id="16" name="Shape 14"/>
          <p:cNvSpPr/>
          <p:nvPr/>
        </p:nvSpPr>
        <p:spPr>
          <a:xfrm>
            <a:off x="6126480" y="2011680"/>
            <a:ext cx="2286000" cy="292608"/>
          </a:xfrm>
          <a:prstGeom prst="rect">
            <a:avLst/>
          </a:prstGeom>
          <a:solidFill>
            <a:srgbClr val="2d3140"/>
          </a:solidFill>
          <a:ln w="6350">
            <a:solidFill>
              <a:srgbClr val="7a8394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126480" y="204825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10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1. 시작 지점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7040880" y="231343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900">
                <a:solidFill>
                  <a:srgbClr val="7a8394"/>
                </a:solidFill>
                <a:latin typeface="Calibri"/>
                <a:ea typeface="Calibri"/>
                <a:cs typeface="Calibri"/>
              </a:rPr>
              <a:t>↓</a:t>
            </a:r>
            <a:endParaRPr lang="en-US" sz="900"/>
          </a:p>
        </p:txBody>
      </p:sp>
      <p:sp>
        <p:nvSpPr>
          <p:cNvPr id="19" name="Shape 17"/>
          <p:cNvSpPr/>
          <p:nvPr/>
        </p:nvSpPr>
        <p:spPr>
          <a:xfrm>
            <a:off x="6126480" y="2423160"/>
            <a:ext cx="2286000" cy="292608"/>
          </a:xfrm>
          <a:prstGeom prst="rect">
            <a:avLst/>
          </a:prstGeom>
          <a:solidFill>
            <a:srgbClr val="2a2d35"/>
          </a:solidFill>
          <a:ln w="6350">
            <a:solidFill>
              <a:srgbClr val="7a8394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126480" y="245973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100">
                <a:solidFill>
                  <a:srgbClr val="f2f4f8"/>
                </a:solidFill>
                <a:latin typeface="Calibri"/>
                <a:ea typeface="Calibri"/>
                <a:cs typeface="Calibri"/>
              </a:rPr>
              <a:t>2. 지하철 탐색</a:t>
            </a:r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7040880" y="272491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900">
                <a:solidFill>
                  <a:srgbClr val="7a8394"/>
                </a:solidFill>
                <a:latin typeface="Calibri"/>
                <a:ea typeface="Calibri"/>
                <a:cs typeface="Calibri"/>
              </a:rPr>
              <a:t>↓</a:t>
            </a:r>
            <a:endParaRPr lang="en-US" sz="900"/>
          </a:p>
        </p:txBody>
      </p:sp>
      <p:sp>
        <p:nvSpPr>
          <p:cNvPr id="22" name="Shape 20"/>
          <p:cNvSpPr/>
          <p:nvPr/>
        </p:nvSpPr>
        <p:spPr>
          <a:xfrm>
            <a:off x="6126480" y="2834640"/>
            <a:ext cx="2286000" cy="292608"/>
          </a:xfrm>
          <a:prstGeom prst="rect">
            <a:avLst/>
          </a:prstGeom>
          <a:solidFill>
            <a:srgbClr val="2a2d35"/>
          </a:solidFill>
          <a:ln w="6350">
            <a:solidFill>
              <a:srgbClr val="7a8394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126480" y="287121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100">
                <a:solidFill>
                  <a:srgbClr val="f2f4f8"/>
                </a:solidFill>
                <a:latin typeface="Calibri"/>
                <a:ea typeface="Calibri"/>
                <a:cs typeface="Calibri"/>
              </a:rPr>
              <a:t>3. 아이템 수집</a:t>
            </a:r>
            <a:endParaRPr lang="en-US" sz="1100"/>
          </a:p>
        </p:txBody>
      </p:sp>
      <p:sp>
        <p:nvSpPr>
          <p:cNvPr id="24" name="Text 22"/>
          <p:cNvSpPr/>
          <p:nvPr/>
        </p:nvSpPr>
        <p:spPr>
          <a:xfrm>
            <a:off x="7040880" y="313639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900">
                <a:solidFill>
                  <a:srgbClr val="7a8394"/>
                </a:solidFill>
                <a:latin typeface="Calibri"/>
                <a:ea typeface="Calibri"/>
                <a:cs typeface="Calibri"/>
              </a:rPr>
              <a:t>↓</a:t>
            </a:r>
            <a:endParaRPr lang="en-US" sz="900"/>
          </a:p>
        </p:txBody>
      </p:sp>
      <p:sp>
        <p:nvSpPr>
          <p:cNvPr id="25" name="Shape 23"/>
          <p:cNvSpPr/>
          <p:nvPr/>
        </p:nvSpPr>
        <p:spPr>
          <a:xfrm>
            <a:off x="6126480" y="3246120"/>
            <a:ext cx="2286000" cy="292608"/>
          </a:xfrm>
          <a:prstGeom prst="rect">
            <a:avLst/>
          </a:prstGeom>
          <a:solidFill>
            <a:srgbClr val="2a2d35"/>
          </a:solidFill>
          <a:ln w="6350">
            <a:solidFill>
              <a:srgbClr val="7ba7ff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126480" y="328269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100" b="1">
                <a:solidFill>
                  <a:srgbClr val="7ba7ff"/>
                </a:solidFill>
                <a:latin typeface="Calibri"/>
                <a:ea typeface="Calibri"/>
                <a:cs typeface="Calibri"/>
              </a:rPr>
              <a:t>4. 몬스터 회피</a:t>
            </a:r>
            <a:endParaRPr lang="en-US" sz="1100"/>
          </a:p>
        </p:txBody>
      </p:sp>
      <p:sp>
        <p:nvSpPr>
          <p:cNvPr id="27" name="Text 25"/>
          <p:cNvSpPr/>
          <p:nvPr/>
        </p:nvSpPr>
        <p:spPr>
          <a:xfrm>
            <a:off x="7040880" y="354787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900">
                <a:solidFill>
                  <a:srgbClr val="7a8394"/>
                </a:solidFill>
                <a:latin typeface="Calibri"/>
                <a:ea typeface="Calibri"/>
                <a:cs typeface="Calibri"/>
              </a:rPr>
              <a:t>↓</a:t>
            </a:r>
            <a:endParaRPr lang="en-US" sz="900"/>
          </a:p>
        </p:txBody>
      </p:sp>
      <p:sp>
        <p:nvSpPr>
          <p:cNvPr id="28" name="Shape 26"/>
          <p:cNvSpPr/>
          <p:nvPr/>
        </p:nvSpPr>
        <p:spPr>
          <a:xfrm>
            <a:off x="6126480" y="3657600"/>
            <a:ext cx="2286000" cy="292608"/>
          </a:xfrm>
          <a:prstGeom prst="rect">
            <a:avLst/>
          </a:prstGeom>
          <a:solidFill>
            <a:srgbClr val="2a2d35"/>
          </a:solidFill>
          <a:ln w="6350">
            <a:solidFill>
              <a:srgbClr val="7a8394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126480" y="369417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100">
                <a:solidFill>
                  <a:srgbClr val="f2f4f8"/>
                </a:solidFill>
                <a:latin typeface="Calibri"/>
                <a:ea typeface="Calibri"/>
                <a:cs typeface="Calibri"/>
              </a:rPr>
              <a:t>5. 귀환 &amp; 제출</a:t>
            </a:r>
            <a:endParaRPr lang="en-US" sz="1100"/>
          </a:p>
        </p:txBody>
      </p:sp>
      <p:sp>
        <p:nvSpPr>
          <p:cNvPr id="30" name="Text 28"/>
          <p:cNvSpPr/>
          <p:nvPr/>
        </p:nvSpPr>
        <p:spPr>
          <a:xfrm>
            <a:off x="7040880" y="395935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900">
                <a:solidFill>
                  <a:srgbClr val="7a8394"/>
                </a:solidFill>
                <a:latin typeface="Calibri"/>
                <a:ea typeface="Calibri"/>
                <a:cs typeface="Calibri"/>
              </a:rPr>
              <a:t>↓</a:t>
            </a:r>
            <a:endParaRPr lang="en-US" sz="900"/>
          </a:p>
        </p:txBody>
      </p:sp>
      <p:sp>
        <p:nvSpPr>
          <p:cNvPr id="31" name="Shape 29"/>
          <p:cNvSpPr/>
          <p:nvPr/>
        </p:nvSpPr>
        <p:spPr>
          <a:xfrm>
            <a:off x="6126480" y="4069080"/>
            <a:ext cx="2286000" cy="292608"/>
          </a:xfrm>
          <a:prstGeom prst="rect">
            <a:avLst/>
          </a:prstGeom>
          <a:solidFill>
            <a:srgbClr val="2d3140"/>
          </a:solidFill>
          <a:ln w="6350">
            <a:solidFill>
              <a:srgbClr val="7ba7ff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126480" y="410565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100" b="1">
                <a:solidFill>
                  <a:srgbClr val="7ba7ff"/>
                </a:solidFill>
                <a:latin typeface="Calibri"/>
                <a:ea typeface="Calibri"/>
                <a:cs typeface="Calibri"/>
              </a:rPr>
              <a:t>6. 타이머 종료</a:t>
            </a:r>
            <a:endParaRPr lang="en-US" sz="1100"/>
          </a:p>
        </p:txBody>
      </p:sp>
      <p:sp>
        <p:nvSpPr>
          <p:cNvPr id="33" name="Text 31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800" kern="0" spc="200">
                <a:solidFill>
                  <a:srgbClr val="7a8394"/>
                </a:solidFill>
                <a:latin typeface="Consolas"/>
                <a:ea typeface="Consolas"/>
                <a:cs typeface="Consolas"/>
              </a:rPr>
              <a:t>DEADLINE  ·  Game Dev Presentation</a:t>
            </a:r>
            <a:endParaRPr lang="en-US" sz="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4">
    <p:bg>
      <p:bgPr shadeToTitle="0">
        <a:solidFill>
          <a:srgbClr val="1e20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900" b="1" kern="0" spc="300">
                <a:solidFill>
                  <a:srgbClr val="5b8def"/>
                </a:solidFill>
                <a:latin typeface="Consolas"/>
                <a:ea typeface="Consolas"/>
                <a:cs typeface="Consolas"/>
              </a:rPr>
              <a:t>// 03. GAMEPLAY</a:t>
            </a:r>
            <a:endParaRPr lang="en-US" sz="900"/>
          </a:p>
        </p:txBody>
      </p:sp>
      <p:sp>
        <p:nvSpPr>
          <p:cNvPr id="3" name="Shape 1"/>
          <p:cNvSpPr/>
          <p:nvPr/>
        </p:nvSpPr>
        <p:spPr>
          <a:xfrm>
            <a:off x="2514600" y="384048"/>
            <a:ext cx="365760" cy="0"/>
          </a:xfrm>
          <a:prstGeom prst="line">
            <a:avLst/>
          </a:prstGeom>
          <a:noFill/>
          <a:ln w="12700">
            <a:solidFill>
              <a:srgbClr val="5b8def"/>
            </a:solidFill>
            <a:prstDash val="solid"/>
          </a:ln>
        </p:spPr>
        <p:txBody>
          <a:bodyPr wrap="square"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3600" b="1" kern="0" spc="300">
                <a:solidFill>
                  <a:srgbClr val="f2f4f8"/>
                </a:solidFill>
                <a:latin typeface="Impact"/>
                <a:ea typeface="Impact"/>
                <a:cs typeface="Impact"/>
              </a:rPr>
              <a:t>게임 주요 내용</a:t>
            </a:r>
            <a:endParaRPr lang="en-US" sz="3600" b="1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12700">
            <a:solidFill>
              <a:srgbClr val="5b8def"/>
            </a:solidFill>
            <a:prstDash val="solid"/>
          </a:ln>
        </p:spPr>
        <p:txBody>
          <a:bodyPr wrap="square"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114800" cy="1508760"/>
          </a:xfrm>
          <a:prstGeom prst="rect">
            <a:avLst/>
          </a:prstGeom>
          <a:solidFill>
            <a:srgbClr val="2a2d35"/>
          </a:solidFill>
          <a:ln w="6350">
            <a:solidFill>
              <a:srgbClr val="5b8def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54864" cy="1508760"/>
          </a:xfrm>
          <a:prstGeom prst="rect">
            <a:avLst/>
          </a:prstGeom>
          <a:solidFill>
            <a:srgbClr val="5b8def"/>
          </a:solidFill>
          <a:ln/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lvl="0">
              <a:defRPr/>
            </a:pPr>
            <a:r>
              <a:rPr lang="en-US" altLang="ko-KR" sz="1400" b="1">
                <a:solidFill>
                  <a:srgbClr val="f2f4f8"/>
                </a:solidFill>
                <a:latin typeface="Calibri"/>
                <a:ea typeface="Calibri"/>
                <a:cs typeface="Calibri"/>
              </a:rPr>
              <a:t>🎮</a:t>
            </a:r>
            <a:r>
              <a:rPr lang="en-US" sz="1400" b="1">
                <a:solidFill>
                  <a:srgbClr val="f2f4f8"/>
                </a:solidFill>
                <a:latin typeface="Calibri"/>
                <a:ea typeface="Calibri"/>
                <a:cs typeface="Calibri"/>
              </a:rPr>
              <a:t>  카운트업 타이머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640080" y="202996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lnSpc>
                <a:spcPct val="150000"/>
              </a:lnSpc>
              <a:buNone/>
              <a:defRPr/>
            </a:pPr>
            <a:r>
              <a:rPr lang="en-US" sz="120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플레이 시작과 함께 0초부터 카운트.</a:t>
            </a:r>
            <a:endParaRPr lang="en-US" sz="1200">
              <a:solidFill>
                <a:srgbClr val="b0b8c8"/>
              </a:solidFill>
              <a:latin typeface="Calibri"/>
              <a:ea typeface="Calibri"/>
              <a:cs typeface="Calibri"/>
            </a:endParaRPr>
          </a:p>
          <a:p>
            <a:pPr marL="0" lvl="0" indent="0" algn="l">
              <a:lnSpc>
                <a:spcPct val="150000"/>
              </a:lnSpc>
              <a:buNone/>
              <a:defRPr/>
            </a:pPr>
            <a:r>
              <a:rPr lang="en-US" sz="120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이후 클리어 기록으로 활용.</a:t>
            </a:r>
            <a:endParaRPr lang="en-US" sz="1200">
              <a:solidFill>
                <a:srgbClr val="b0b8c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892040" y="1554480"/>
            <a:ext cx="4114800" cy="1508760"/>
          </a:xfrm>
          <a:prstGeom prst="rect">
            <a:avLst/>
          </a:prstGeom>
          <a:solidFill>
            <a:srgbClr val="2a2d35"/>
          </a:solidFill>
          <a:ln w="6350">
            <a:solidFill>
              <a:srgbClr val="5b8def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892040" y="1554480"/>
            <a:ext cx="54864" cy="1508760"/>
          </a:xfrm>
          <a:prstGeom prst="rect">
            <a:avLst/>
          </a:prstGeom>
          <a:solidFill>
            <a:srgbClr val="7ba7ff"/>
          </a:solidFill>
          <a:ln/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074920" y="16459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1400" b="1">
                <a:solidFill>
                  <a:srgbClr val="f2f4f8"/>
                </a:solidFill>
                <a:latin typeface="Calibri"/>
                <a:ea typeface="Calibri"/>
                <a:cs typeface="Calibri"/>
              </a:rPr>
              <a:t>🎯  아이템 수집 &amp; 귀환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5074920" y="202996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lnSpc>
                <a:spcPct val="150000"/>
              </a:lnSpc>
              <a:buNone/>
              <a:defRPr/>
            </a:pPr>
            <a:r>
              <a:rPr lang="en-US" sz="120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지하철 곳곳에 배치된 아이템 수집 후 </a:t>
            </a:r>
            <a:endParaRPr lang="en-US" sz="1200">
              <a:solidFill>
                <a:srgbClr val="b0b8c8"/>
              </a:solidFill>
              <a:latin typeface="Calibri"/>
              <a:ea typeface="Calibri"/>
              <a:cs typeface="Calibri"/>
            </a:endParaRPr>
          </a:p>
          <a:p>
            <a:pPr marL="0" lvl="0" indent="0" algn="l">
              <a:lnSpc>
                <a:spcPct val="150000"/>
              </a:lnSpc>
              <a:buNone/>
              <a:defRPr/>
            </a:pPr>
            <a:r>
              <a:rPr lang="en-US" sz="120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시작 지점으로 돌아와 제출. 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4114800" cy="1508760"/>
          </a:xfrm>
          <a:prstGeom prst="rect">
            <a:avLst/>
          </a:prstGeom>
          <a:solidFill>
            <a:srgbClr val="2a2d35"/>
          </a:solidFill>
          <a:ln w="6350">
            <a:solidFill>
              <a:srgbClr val="5b8def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54864" cy="1508760"/>
          </a:xfrm>
          <a:prstGeom prst="rect">
            <a:avLst/>
          </a:prstGeom>
          <a:solidFill>
            <a:srgbClr val="c0392b"/>
          </a:solidFill>
          <a:ln/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0080" y="33375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1400" b="1">
                <a:solidFill>
                  <a:srgbClr val="f2f4f8"/>
                </a:solidFill>
                <a:latin typeface="Calibri"/>
                <a:ea typeface="Calibri"/>
                <a:cs typeface="Calibri"/>
              </a:rPr>
              <a:t>👾  NavMesh AI 몬스터</a:t>
            </a:r>
            <a:endParaRPr lang="en-US" sz="1400"/>
          </a:p>
        </p:txBody>
      </p:sp>
      <p:sp>
        <p:nvSpPr>
          <p:cNvPr id="17" name="Text 15"/>
          <p:cNvSpPr/>
          <p:nvPr/>
        </p:nvSpPr>
        <p:spPr>
          <a:xfrm>
            <a:off x="640080" y="372160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lnSpc>
                <a:spcPct val="150000"/>
              </a:lnSpc>
              <a:buNone/>
              <a:defRPr/>
            </a:pPr>
            <a:r>
              <a:rPr lang="en-US" sz="120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소음 감지 → 비명 → 추격. </a:t>
            </a:r>
            <a:endParaRPr lang="en-US" sz="1200">
              <a:solidFill>
                <a:srgbClr val="b0b8c8"/>
              </a:solidFill>
              <a:latin typeface="Calibri"/>
              <a:ea typeface="Calibri"/>
              <a:cs typeface="Calibri"/>
            </a:endParaRPr>
          </a:p>
          <a:p>
            <a:pPr marL="0" lvl="0" indent="0" algn="l">
              <a:lnSpc>
                <a:spcPct val="150000"/>
              </a:lnSpc>
              <a:buNone/>
              <a:defRPr/>
            </a:pPr>
            <a:r>
              <a:rPr lang="en-US" sz="120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순찰 중 발소리 감지 시 즉시 State.Chase 전환.</a:t>
            </a:r>
            <a:endParaRPr lang="en-US" sz="1200"/>
          </a:p>
        </p:txBody>
      </p:sp>
      <p:sp>
        <p:nvSpPr>
          <p:cNvPr id="18" name="Shape 16"/>
          <p:cNvSpPr/>
          <p:nvPr/>
        </p:nvSpPr>
        <p:spPr>
          <a:xfrm>
            <a:off x="4892040" y="3246120"/>
            <a:ext cx="4114800" cy="1508760"/>
          </a:xfrm>
          <a:prstGeom prst="rect">
            <a:avLst/>
          </a:prstGeom>
          <a:solidFill>
            <a:srgbClr val="2a2d35"/>
          </a:solidFill>
          <a:ln w="6350">
            <a:solidFill>
              <a:srgbClr val="5b8def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892040" y="3246120"/>
            <a:ext cx="54864" cy="1508760"/>
          </a:xfrm>
          <a:prstGeom prst="rect">
            <a:avLst/>
          </a:prstGeom>
          <a:solidFill>
            <a:srgbClr val="b0b8c8"/>
          </a:solidFill>
          <a:ln/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074920" y="33375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1400" b="1">
                <a:solidFill>
                  <a:srgbClr val="f2f4f8"/>
                </a:solidFill>
                <a:latin typeface="Calibri"/>
                <a:ea typeface="Calibri"/>
                <a:cs typeface="Calibri"/>
              </a:rPr>
              <a:t>🔊  공간 오디오 시스템</a:t>
            </a:r>
            <a:endParaRPr lang="en-US" sz="1400"/>
          </a:p>
        </p:txBody>
      </p:sp>
      <p:sp>
        <p:nvSpPr>
          <p:cNvPr id="21" name="Text 19"/>
          <p:cNvSpPr/>
          <p:nvPr/>
        </p:nvSpPr>
        <p:spPr>
          <a:xfrm>
            <a:off x="5074920" y="372160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lvl="0">
              <a:lnSpc>
                <a:spcPct val="150000"/>
              </a:lnSpc>
              <a:defRPr/>
            </a:pPr>
            <a:r>
              <a:rPr lang="en-US" sz="120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플레이어: spatial blend 2D </a:t>
            </a:r>
            <a:r>
              <a:rPr lang="ko-KR" altLang="en-US" sz="120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로 이질감 없는 소리 구현</a:t>
            </a:r>
            <a:r>
              <a:rPr lang="en-US" sz="120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. </a:t>
            </a:r>
            <a:endParaRPr lang="en-US" sz="1200">
              <a:solidFill>
                <a:srgbClr val="b0b8c8"/>
              </a:solidFill>
              <a:latin typeface="Calibri"/>
              <a:ea typeface="Calibri"/>
              <a:cs typeface="Calibri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sz="120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몬스터: spatial blend 3D </a:t>
            </a:r>
            <a:r>
              <a:rPr lang="ko-KR" altLang="en-US" sz="120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로 </a:t>
            </a:r>
            <a:r>
              <a:rPr lang="en-US" sz="120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거리감·방향감 구현.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800" kern="0" spc="200">
                <a:solidFill>
                  <a:srgbClr val="7a8394"/>
                </a:solidFill>
                <a:latin typeface="Consolas"/>
                <a:ea typeface="Consolas"/>
                <a:cs typeface="Consolas"/>
              </a:rPr>
              <a:t>DEADLINE  ·  Game Dev Presentation</a:t>
            </a:r>
            <a:endParaRPr lang="en-US" sz="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4">
    <p:bg>
      <p:bgPr shadeToTitle="0">
        <a:solidFill>
          <a:srgbClr val="1e20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900" b="1" kern="0" spc="300">
                <a:solidFill>
                  <a:srgbClr val="5b8def"/>
                </a:solidFill>
                <a:latin typeface="Consolas"/>
                <a:ea typeface="Consolas"/>
                <a:cs typeface="Consolas"/>
              </a:rPr>
              <a:t>// 03. GAMEPLAY</a:t>
            </a:r>
            <a:endParaRPr lang="en-US" sz="900"/>
          </a:p>
        </p:txBody>
      </p:sp>
      <p:sp>
        <p:nvSpPr>
          <p:cNvPr id="3" name="Shape 1"/>
          <p:cNvSpPr/>
          <p:nvPr/>
        </p:nvSpPr>
        <p:spPr>
          <a:xfrm>
            <a:off x="2514600" y="384048"/>
            <a:ext cx="365760" cy="0"/>
          </a:xfrm>
          <a:prstGeom prst="line">
            <a:avLst/>
          </a:prstGeom>
          <a:noFill/>
          <a:ln w="12700">
            <a:solidFill>
              <a:srgbClr val="5b8def"/>
            </a:solidFill>
            <a:prstDash val="solid"/>
          </a:ln>
        </p:spPr>
        <p:txBody>
          <a:bodyPr wrap="square"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800" kern="0" spc="200">
                <a:solidFill>
                  <a:srgbClr val="7a8394"/>
                </a:solidFill>
                <a:latin typeface="Consolas"/>
                <a:ea typeface="Consolas"/>
                <a:cs typeface="Consolas"/>
              </a:rPr>
              <a:t>DEADLINE  ·  Game Dev Presentation</a:t>
            </a:r>
            <a:endParaRPr lang="en-US" sz="800"/>
          </a:p>
        </p:txBody>
      </p:sp>
      <p:pic>
        <p:nvPicPr>
          <p:cNvPr id="23" name="그림 2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332700" y="1467552"/>
            <a:ext cx="4478599" cy="2519212"/>
          </a:xfrm>
          <a:prstGeom prst="rect">
            <a:avLst/>
          </a:prstGeom>
        </p:spPr>
      </p:pic>
      <p:sp>
        <p:nvSpPr>
          <p:cNvPr id="26" name="Text 2"/>
          <p:cNvSpPr/>
          <p:nvPr/>
        </p:nvSpPr>
        <p:spPr>
          <a:xfrm>
            <a:off x="457200" y="579320"/>
            <a:ext cx="8229600" cy="36054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000" b="1" i="0" u="none" strike="noStrike" kern="0" cap="none" spc="300" normalizeH="0" baseline="0" mc:Ignorable="hp" hp:hslEmbossed="0">
                <a:solidFill>
                  <a:srgbClr val="f2f4f8"/>
                </a:solidFill>
                <a:latin typeface="Impact"/>
                <a:ea typeface="Impact"/>
                <a:cs typeface="Impact"/>
              </a:rPr>
              <a:t>벤치마킹</a:t>
            </a:r>
            <a:endParaRPr xmlns:mc="http://schemas.openxmlformats.org/markup-compatibility/2006" xmlns:hp="http://schemas.haansoft.com/office/presentation/8.0" kumimoji="0" lang="ko-KR" altLang="en-US" sz="2000" b="1" i="0" u="none" strike="noStrike" kern="0" cap="none" spc="300" normalizeH="0" baseline="0" mc:Ignorable="hp" hp:hslEmbossed="0">
              <a:solidFill>
                <a:srgbClr val="f2f4f8"/>
              </a:solidFill>
              <a:latin typeface="Impact"/>
              <a:ea typeface="Impact"/>
              <a:cs typeface="Impact"/>
            </a:endParaRPr>
          </a:p>
        </p:txBody>
      </p:sp>
      <p:sp>
        <p:nvSpPr>
          <p:cNvPr id="27" name="Shape 3"/>
          <p:cNvSpPr/>
          <p:nvPr/>
        </p:nvSpPr>
        <p:spPr>
          <a:xfrm>
            <a:off x="457200" y="939866"/>
            <a:ext cx="8229600" cy="0"/>
          </a:xfrm>
          <a:prstGeom prst="line">
            <a:avLst/>
          </a:prstGeom>
          <a:noFill/>
          <a:ln w="12700">
            <a:solidFill>
              <a:srgbClr val="5b8def">
                <a:alpha val="100000"/>
              </a:srgbClr>
            </a:solidFill>
            <a:prstDash val="solid"/>
          </a:ln>
        </p:spPr>
        <p:txBody>
          <a:bodyPr wrap="square" anchor="ctr"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4">
    <p:bg>
      <p:bgPr shadeToTitle="0">
        <a:solidFill>
          <a:srgbClr val="1e20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900" b="1" kern="0" spc="300">
                <a:solidFill>
                  <a:srgbClr val="5b8def"/>
                </a:solidFill>
                <a:latin typeface="Consolas"/>
                <a:ea typeface="Consolas"/>
                <a:cs typeface="Consolas"/>
              </a:rPr>
              <a:t>// 03. GAMEPLAY</a:t>
            </a:r>
            <a:endParaRPr lang="en-US" sz="900"/>
          </a:p>
        </p:txBody>
      </p:sp>
      <p:sp>
        <p:nvSpPr>
          <p:cNvPr id="3" name="Shape 1"/>
          <p:cNvSpPr/>
          <p:nvPr/>
        </p:nvSpPr>
        <p:spPr>
          <a:xfrm>
            <a:off x="2514600" y="384048"/>
            <a:ext cx="365760" cy="0"/>
          </a:xfrm>
          <a:prstGeom prst="line">
            <a:avLst/>
          </a:prstGeom>
          <a:noFill/>
          <a:ln w="12700">
            <a:solidFill>
              <a:srgbClr val="5b8def"/>
            </a:solidFill>
            <a:prstDash val="solid"/>
          </a:ln>
        </p:spPr>
        <p:txBody>
          <a:bodyPr wrap="square"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800" kern="0" spc="200">
                <a:solidFill>
                  <a:srgbClr val="7a8394"/>
                </a:solidFill>
                <a:latin typeface="Consolas"/>
                <a:ea typeface="Consolas"/>
                <a:cs typeface="Consolas"/>
              </a:rPr>
              <a:t>DEADLINE  ·  Game Dev Presentation</a:t>
            </a:r>
            <a:endParaRPr lang="en-US" sz="800"/>
          </a:p>
        </p:txBody>
      </p:sp>
      <p:sp>
        <p:nvSpPr>
          <p:cNvPr id="26" name="Text 2"/>
          <p:cNvSpPr/>
          <p:nvPr/>
        </p:nvSpPr>
        <p:spPr>
          <a:xfrm>
            <a:off x="457200" y="579320"/>
            <a:ext cx="8229600" cy="36054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000" b="1" i="0" u="none" strike="noStrike" kern="0" cap="none" spc="300" normalizeH="0" baseline="0" mc:Ignorable="hp" hp:hslEmbossed="0">
                <a:solidFill>
                  <a:srgbClr val="f2f4f8"/>
                </a:solidFill>
                <a:latin typeface="Impact"/>
                <a:ea typeface="Impact"/>
                <a:cs typeface="Impact"/>
              </a:rPr>
              <a:t>맵 소개</a:t>
            </a:r>
            <a:endParaRPr xmlns:mc="http://schemas.openxmlformats.org/markup-compatibility/2006" xmlns:hp="http://schemas.haansoft.com/office/presentation/8.0" kumimoji="0" lang="ko-KR" altLang="en-US" sz="2000" b="1" i="0" u="none" strike="noStrike" kern="0" cap="none" spc="300" normalizeH="0" baseline="0" mc:Ignorable="hp" hp:hslEmbossed="0">
              <a:solidFill>
                <a:srgbClr val="f2f4f8"/>
              </a:solidFill>
              <a:latin typeface="Impact"/>
              <a:ea typeface="Impact"/>
              <a:cs typeface="Impact"/>
            </a:endParaRPr>
          </a:p>
        </p:txBody>
      </p:sp>
      <p:sp>
        <p:nvSpPr>
          <p:cNvPr id="27" name="Shape 3"/>
          <p:cNvSpPr/>
          <p:nvPr/>
        </p:nvSpPr>
        <p:spPr>
          <a:xfrm>
            <a:off x="457200" y="939866"/>
            <a:ext cx="8229600" cy="0"/>
          </a:xfrm>
          <a:prstGeom prst="line">
            <a:avLst/>
          </a:prstGeom>
          <a:noFill/>
          <a:ln w="12700">
            <a:solidFill>
              <a:srgbClr val="5b8def">
                <a:alpha val="100000"/>
              </a:srgbClr>
            </a:solidFill>
            <a:prstDash val="solid"/>
          </a:ln>
        </p:spPr>
        <p:txBody>
          <a:bodyPr wrap="square" anchor="ctr"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pic>
        <p:nvPicPr>
          <p:cNvPr id="29" name="그림 2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168466" y="1839202"/>
            <a:ext cx="3058027" cy="1720140"/>
          </a:xfrm>
          <a:prstGeom prst="rect">
            <a:avLst/>
          </a:prstGeom>
        </p:spPr>
      </p:pic>
      <p:pic>
        <p:nvPicPr>
          <p:cNvPr id="31" name="그림 30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627545" y="1839202"/>
            <a:ext cx="3119999" cy="1720140"/>
          </a:xfrm>
          <a:prstGeom prst="rect">
            <a:avLst/>
          </a:prstGeom>
        </p:spPr>
      </p:pic>
      <p:sp>
        <p:nvSpPr>
          <p:cNvPr id="32" name="Text 2"/>
          <p:cNvSpPr/>
          <p:nvPr/>
        </p:nvSpPr>
        <p:spPr>
          <a:xfrm>
            <a:off x="1640706" y="3559342"/>
            <a:ext cx="2113547" cy="36054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000" b="1" i="0" u="none" strike="noStrike" kern="0" cap="none" spc="300" normalizeH="0" baseline="0" mc:Ignorable="hp" hp:hslEmbossed="0">
                <a:solidFill>
                  <a:srgbClr val="f2f4f8"/>
                </a:solidFill>
                <a:latin typeface="Impact"/>
                <a:ea typeface="Impact"/>
                <a:cs typeface="Impact"/>
              </a:rPr>
              <a:t>LEATHAL COMPANY</a:t>
            </a:r>
            <a:endParaRPr xmlns:mc="http://schemas.openxmlformats.org/markup-compatibility/2006" xmlns:hp="http://schemas.haansoft.com/office/presentation/8.0" kumimoji="0" lang="en-US" altLang="ko-KR" sz="1000" b="1" i="0" u="none" strike="noStrike" kern="0" cap="none" spc="300" normalizeH="0" baseline="0" mc:Ignorable="hp" hp:hslEmbossed="0">
              <a:solidFill>
                <a:srgbClr val="f2f4f8"/>
              </a:solidFill>
              <a:latin typeface="Impact"/>
              <a:ea typeface="Impact"/>
              <a:cs typeface="Impact"/>
            </a:endParaRPr>
          </a:p>
        </p:txBody>
      </p:sp>
      <p:sp>
        <p:nvSpPr>
          <p:cNvPr id="33" name="Text 2"/>
          <p:cNvSpPr/>
          <p:nvPr/>
        </p:nvSpPr>
        <p:spPr>
          <a:xfrm>
            <a:off x="5130771" y="3559342"/>
            <a:ext cx="2113547" cy="36054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000" b="1" i="0" u="none" strike="noStrike" kern="0" cap="none" spc="300" normalizeH="0" baseline="0" mc:Ignorable="hp" hp:hslEmbossed="0">
                <a:solidFill>
                  <a:srgbClr val="f2f4f8"/>
                </a:solidFill>
                <a:latin typeface="Impact"/>
                <a:ea typeface="Impact"/>
                <a:cs typeface="Impact"/>
              </a:rPr>
              <a:t>DEADLINE</a:t>
            </a:r>
            <a:endParaRPr xmlns:mc="http://schemas.openxmlformats.org/markup-compatibility/2006" xmlns:hp="http://schemas.haansoft.com/office/presentation/8.0" kumimoji="0" lang="en-US" altLang="ko-KR" sz="1000" b="1" i="0" u="none" strike="noStrike" kern="0" cap="none" spc="300" normalizeH="0" baseline="0" mc:Ignorable="hp" hp:hslEmbossed="0">
              <a:solidFill>
                <a:srgbClr val="f2f4f8"/>
              </a:solidFill>
              <a:latin typeface="Impact"/>
              <a:ea typeface="Impact"/>
              <a:cs typeface="Impac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4">
    <p:bg>
      <p:bgPr shadeToTitle="0">
        <a:solidFill>
          <a:srgbClr val="1e20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900" b="1" kern="0" spc="300">
                <a:solidFill>
                  <a:srgbClr val="5b8def"/>
                </a:solidFill>
                <a:latin typeface="Consolas"/>
                <a:ea typeface="Consolas"/>
                <a:cs typeface="Consolas"/>
              </a:rPr>
              <a:t>// 03. GAMEPLAY</a:t>
            </a:r>
            <a:endParaRPr lang="en-US" sz="900"/>
          </a:p>
        </p:txBody>
      </p:sp>
      <p:sp>
        <p:nvSpPr>
          <p:cNvPr id="3" name="Shape 1"/>
          <p:cNvSpPr/>
          <p:nvPr/>
        </p:nvSpPr>
        <p:spPr>
          <a:xfrm>
            <a:off x="2514600" y="384048"/>
            <a:ext cx="365760" cy="0"/>
          </a:xfrm>
          <a:prstGeom prst="line">
            <a:avLst/>
          </a:prstGeom>
          <a:noFill/>
          <a:ln w="12700">
            <a:solidFill>
              <a:srgbClr val="5b8def"/>
            </a:solidFill>
            <a:prstDash val="solid"/>
          </a:ln>
        </p:spPr>
        <p:txBody>
          <a:bodyPr wrap="square"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800" kern="0" spc="200">
                <a:solidFill>
                  <a:srgbClr val="7a8394"/>
                </a:solidFill>
                <a:latin typeface="Consolas"/>
                <a:ea typeface="Consolas"/>
                <a:cs typeface="Consolas"/>
              </a:rPr>
              <a:t>DEADLINE  ·  Game Dev Presentation</a:t>
            </a:r>
            <a:endParaRPr lang="en-US" sz="800"/>
          </a:p>
        </p:txBody>
      </p:sp>
      <p:sp>
        <p:nvSpPr>
          <p:cNvPr id="26" name="Text 2"/>
          <p:cNvSpPr/>
          <p:nvPr/>
        </p:nvSpPr>
        <p:spPr>
          <a:xfrm>
            <a:off x="457200" y="579320"/>
            <a:ext cx="8229600" cy="36054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000" b="1" i="0" u="none" strike="noStrike" kern="0" cap="none" spc="300" normalizeH="0" baseline="0" mc:Ignorable="hp" hp:hslEmbossed="0">
                <a:solidFill>
                  <a:srgbClr val="f2f4f8"/>
                </a:solidFill>
                <a:latin typeface="Impact"/>
                <a:ea typeface="Impact"/>
                <a:cs typeface="Impact"/>
              </a:rPr>
              <a:t>맵 소개</a:t>
            </a:r>
            <a:endParaRPr xmlns:mc="http://schemas.openxmlformats.org/markup-compatibility/2006" xmlns:hp="http://schemas.haansoft.com/office/presentation/8.0" kumimoji="0" lang="ko-KR" altLang="en-US" sz="2000" b="1" i="0" u="none" strike="noStrike" kern="0" cap="none" spc="300" normalizeH="0" baseline="0" mc:Ignorable="hp" hp:hslEmbossed="0">
              <a:solidFill>
                <a:srgbClr val="f2f4f8"/>
              </a:solidFill>
              <a:latin typeface="Impact"/>
              <a:ea typeface="Impact"/>
              <a:cs typeface="Impact"/>
            </a:endParaRPr>
          </a:p>
        </p:txBody>
      </p:sp>
      <p:sp>
        <p:nvSpPr>
          <p:cNvPr id="27" name="Shape 3"/>
          <p:cNvSpPr/>
          <p:nvPr/>
        </p:nvSpPr>
        <p:spPr>
          <a:xfrm>
            <a:off x="457200" y="939866"/>
            <a:ext cx="8229600" cy="0"/>
          </a:xfrm>
          <a:prstGeom prst="line">
            <a:avLst/>
          </a:prstGeom>
          <a:noFill/>
          <a:ln w="12700">
            <a:solidFill>
              <a:srgbClr val="5b8def">
                <a:alpha val="100000"/>
              </a:srgbClr>
            </a:solidFill>
            <a:prstDash val="solid"/>
          </a:ln>
        </p:spPr>
        <p:txBody>
          <a:bodyPr wrap="square" anchor="ctr"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2" name="Text 2"/>
          <p:cNvSpPr/>
          <p:nvPr/>
        </p:nvSpPr>
        <p:spPr>
          <a:xfrm>
            <a:off x="1640706" y="3559342"/>
            <a:ext cx="2113547" cy="36054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000" b="1" i="0" u="none" strike="noStrike" kern="0" cap="none" spc="300" normalizeH="0" baseline="0" mc:Ignorable="hp" hp:hslEmbossed="0">
                <a:solidFill>
                  <a:srgbClr val="f2f4f8"/>
                </a:solidFill>
                <a:latin typeface="Impact"/>
                <a:ea typeface="Impact"/>
                <a:cs typeface="Impact"/>
              </a:rPr>
              <a:t>LEATHAL COMPANY</a:t>
            </a:r>
            <a:endParaRPr xmlns:mc="http://schemas.openxmlformats.org/markup-compatibility/2006" xmlns:hp="http://schemas.haansoft.com/office/presentation/8.0" kumimoji="0" lang="en-US" altLang="ko-KR" sz="1000" b="1" i="0" u="none" strike="noStrike" kern="0" cap="none" spc="300" normalizeH="0" baseline="0" mc:Ignorable="hp" hp:hslEmbossed="0">
              <a:solidFill>
                <a:srgbClr val="f2f4f8"/>
              </a:solidFill>
              <a:latin typeface="Impact"/>
              <a:ea typeface="Impact"/>
              <a:cs typeface="Impact"/>
            </a:endParaRPr>
          </a:p>
        </p:txBody>
      </p:sp>
      <p:sp>
        <p:nvSpPr>
          <p:cNvPr id="33" name="Text 2"/>
          <p:cNvSpPr/>
          <p:nvPr/>
        </p:nvSpPr>
        <p:spPr>
          <a:xfrm>
            <a:off x="5130771" y="3559342"/>
            <a:ext cx="2113547" cy="36054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000" b="1" i="0" u="none" strike="noStrike" kern="0" cap="none" spc="300" normalizeH="0" baseline="0" mc:Ignorable="hp" hp:hslEmbossed="0">
                <a:solidFill>
                  <a:srgbClr val="f2f4f8"/>
                </a:solidFill>
                <a:latin typeface="Impact"/>
                <a:ea typeface="Impact"/>
                <a:cs typeface="Impact"/>
              </a:rPr>
              <a:t>DEADLINE</a:t>
            </a:r>
            <a:endParaRPr xmlns:mc="http://schemas.openxmlformats.org/markup-compatibility/2006" xmlns:hp="http://schemas.haansoft.com/office/presentation/8.0" kumimoji="0" lang="en-US" altLang="ko-KR" sz="1000" b="1" i="0" u="none" strike="noStrike" kern="0" cap="none" spc="300" normalizeH="0" baseline="0" mc:Ignorable="hp" hp:hslEmbossed="0">
              <a:solidFill>
                <a:srgbClr val="f2f4f8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34" name="그림 3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661038" y="1842022"/>
            <a:ext cx="3053013" cy="1717319"/>
          </a:xfrm>
          <a:prstGeom prst="rect">
            <a:avLst/>
          </a:prstGeom>
        </p:spPr>
      </p:pic>
      <p:pic>
        <p:nvPicPr>
          <p:cNvPr id="35" name="그림 3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70973" y="1842022"/>
            <a:ext cx="3053013" cy="17173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4">
    <p:bg>
      <p:bgPr shadeToTitle="0">
        <a:solidFill>
          <a:srgbClr val="1e20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900" b="1" kern="0" spc="300">
                <a:solidFill>
                  <a:srgbClr val="5b8def"/>
                </a:solidFill>
                <a:latin typeface="Consolas"/>
                <a:ea typeface="Consolas"/>
                <a:cs typeface="Consolas"/>
              </a:rPr>
              <a:t>// 03. GAMEPLAY</a:t>
            </a:r>
            <a:endParaRPr lang="en-US" sz="900"/>
          </a:p>
        </p:txBody>
      </p:sp>
      <p:sp>
        <p:nvSpPr>
          <p:cNvPr id="3" name="Shape 1"/>
          <p:cNvSpPr/>
          <p:nvPr/>
        </p:nvSpPr>
        <p:spPr>
          <a:xfrm>
            <a:off x="2514600" y="384048"/>
            <a:ext cx="365760" cy="0"/>
          </a:xfrm>
          <a:prstGeom prst="line">
            <a:avLst/>
          </a:prstGeom>
          <a:noFill/>
          <a:ln w="12700">
            <a:solidFill>
              <a:srgbClr val="5b8def"/>
            </a:solidFill>
            <a:prstDash val="solid"/>
          </a:ln>
        </p:spPr>
        <p:txBody>
          <a:bodyPr wrap="square"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800" kern="0" spc="200">
                <a:solidFill>
                  <a:srgbClr val="7a8394"/>
                </a:solidFill>
                <a:latin typeface="Consolas"/>
                <a:ea typeface="Consolas"/>
                <a:cs typeface="Consolas"/>
              </a:rPr>
              <a:t>DEADLINE  ·  Game Dev Presentation</a:t>
            </a:r>
            <a:endParaRPr lang="en-US" sz="800"/>
          </a:p>
        </p:txBody>
      </p:sp>
      <p:sp>
        <p:nvSpPr>
          <p:cNvPr id="26" name="Text 2"/>
          <p:cNvSpPr/>
          <p:nvPr/>
        </p:nvSpPr>
        <p:spPr>
          <a:xfrm>
            <a:off x="457200" y="579320"/>
            <a:ext cx="8229600" cy="36054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000" b="1" i="0" u="none" strike="noStrike" kern="0" cap="none" spc="300" normalizeH="0" baseline="0" mc:Ignorable="hp" hp:hslEmbossed="0">
                <a:solidFill>
                  <a:srgbClr val="f2f4f8"/>
                </a:solidFill>
                <a:latin typeface="Impact"/>
                <a:ea typeface="Impact"/>
                <a:cs typeface="Impact"/>
              </a:rPr>
              <a:t>몬스터 소개</a:t>
            </a:r>
            <a:endParaRPr xmlns:mc="http://schemas.openxmlformats.org/markup-compatibility/2006" xmlns:hp="http://schemas.haansoft.com/office/presentation/8.0" kumimoji="0" lang="ko-KR" altLang="en-US" sz="2000" b="1" i="0" u="none" strike="noStrike" kern="0" cap="none" spc="300" normalizeH="0" baseline="0" mc:Ignorable="hp" hp:hslEmbossed="0">
              <a:solidFill>
                <a:srgbClr val="f2f4f8"/>
              </a:solidFill>
              <a:latin typeface="Impact"/>
              <a:ea typeface="Impact"/>
              <a:cs typeface="Impact"/>
            </a:endParaRPr>
          </a:p>
        </p:txBody>
      </p:sp>
      <p:sp>
        <p:nvSpPr>
          <p:cNvPr id="27" name="Shape 3"/>
          <p:cNvSpPr/>
          <p:nvPr/>
        </p:nvSpPr>
        <p:spPr>
          <a:xfrm>
            <a:off x="457200" y="939866"/>
            <a:ext cx="8229600" cy="0"/>
          </a:xfrm>
          <a:prstGeom prst="line">
            <a:avLst/>
          </a:prstGeom>
          <a:noFill/>
          <a:ln w="12700">
            <a:solidFill>
              <a:srgbClr val="5b8def">
                <a:alpha val="100000"/>
              </a:srgbClr>
            </a:solidFill>
            <a:prstDash val="solid"/>
          </a:ln>
        </p:spPr>
        <p:txBody>
          <a:bodyPr wrap="square" anchor="ctr"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2" name="Text 2"/>
          <p:cNvSpPr/>
          <p:nvPr/>
        </p:nvSpPr>
        <p:spPr>
          <a:xfrm>
            <a:off x="934652" y="3851560"/>
            <a:ext cx="1056775" cy="180273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000" b="1" i="0" u="none" strike="noStrike" kern="0" cap="none" spc="300" normalizeH="0" baseline="0" mc:Ignorable="hp" hp:hslEmbossed="0">
                <a:solidFill>
                  <a:srgbClr val="f2f4f8"/>
                </a:solidFill>
                <a:latin typeface="Impact"/>
                <a:ea typeface="Impact"/>
                <a:cs typeface="Impact"/>
              </a:rPr>
              <a:t>Wander</a:t>
            </a:r>
            <a:endParaRPr xmlns:mc="http://schemas.openxmlformats.org/markup-compatibility/2006" xmlns:hp="http://schemas.haansoft.com/office/presentation/8.0" kumimoji="0" lang="en-US" altLang="ko-KR" sz="1000" b="1" i="0" u="none" strike="noStrike" kern="0" cap="none" spc="300" normalizeH="0" baseline="0" mc:Ignorable="hp" hp:hslEmbossed="0">
              <a:solidFill>
                <a:srgbClr val="f2f4f8"/>
              </a:solidFill>
              <a:latin typeface="Impact"/>
              <a:ea typeface="Impact"/>
              <a:cs typeface="Impact"/>
            </a:endParaRPr>
          </a:p>
        </p:txBody>
      </p:sp>
      <p:pic>
        <p:nvPicPr>
          <p:cNvPr id="39" name="그림 3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121666" y="1290890"/>
            <a:ext cx="1440180" cy="2561718"/>
          </a:xfrm>
          <a:prstGeom prst="rect">
            <a:avLst/>
          </a:prstGeom>
        </p:spPr>
      </p:pic>
      <p:pic>
        <p:nvPicPr>
          <p:cNvPr id="40" name="그림 39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880360" y="1291011"/>
            <a:ext cx="1440180" cy="2561478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742950" y="1291939"/>
            <a:ext cx="1440180" cy="2559621"/>
          </a:xfrm>
          <a:prstGeom prst="rect">
            <a:avLst/>
          </a:prstGeom>
        </p:spPr>
      </p:pic>
      <p:pic>
        <p:nvPicPr>
          <p:cNvPr id="42" name="그림 41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5008119" y="1290891"/>
            <a:ext cx="1440180" cy="2561717"/>
          </a:xfrm>
          <a:prstGeom prst="rect">
            <a:avLst/>
          </a:prstGeom>
        </p:spPr>
      </p:pic>
      <p:sp>
        <p:nvSpPr>
          <p:cNvPr id="43" name="Text 2"/>
          <p:cNvSpPr/>
          <p:nvPr/>
        </p:nvSpPr>
        <p:spPr>
          <a:xfrm>
            <a:off x="3072062" y="3851560"/>
            <a:ext cx="1056775" cy="180273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000" b="1" i="0" u="none" strike="noStrike" kern="0" cap="none" spc="300" normalizeH="0" baseline="0" mc:Ignorable="hp" hp:hslEmbossed="0">
                <a:solidFill>
                  <a:srgbClr val="f2f4f8"/>
                </a:solidFill>
                <a:latin typeface="Impact"/>
                <a:ea typeface="Impact"/>
                <a:cs typeface="Impact"/>
              </a:rPr>
              <a:t>Scream</a:t>
            </a:r>
            <a:endParaRPr xmlns:mc="http://schemas.openxmlformats.org/markup-compatibility/2006" xmlns:hp="http://schemas.haansoft.com/office/presentation/8.0" kumimoji="0" lang="en-US" altLang="ko-KR" sz="1000" b="1" i="0" u="none" strike="noStrike" kern="0" cap="none" spc="300" normalizeH="0" baseline="0" mc:Ignorable="hp" hp:hslEmbossed="0">
              <a:solidFill>
                <a:srgbClr val="f2f4f8"/>
              </a:solidFill>
              <a:latin typeface="Impact"/>
              <a:ea typeface="Impact"/>
              <a:cs typeface="Impact"/>
            </a:endParaRPr>
          </a:p>
        </p:txBody>
      </p:sp>
      <p:sp>
        <p:nvSpPr>
          <p:cNvPr id="44" name="Text 2"/>
          <p:cNvSpPr/>
          <p:nvPr/>
        </p:nvSpPr>
        <p:spPr>
          <a:xfrm>
            <a:off x="5209473" y="3851560"/>
            <a:ext cx="1056775" cy="180273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000" b="1" i="0" u="none" strike="noStrike" kern="0" cap="none" spc="300" normalizeH="0" baseline="0" mc:Ignorable="hp" hp:hslEmbossed="0">
                <a:solidFill>
                  <a:srgbClr val="f2f4f8"/>
                </a:solidFill>
                <a:latin typeface="Impact"/>
                <a:ea typeface="Impact"/>
                <a:cs typeface="Impact"/>
              </a:rPr>
              <a:t>Chase</a:t>
            </a:r>
            <a:endParaRPr xmlns:mc="http://schemas.openxmlformats.org/markup-compatibility/2006" xmlns:hp="http://schemas.haansoft.com/office/presentation/8.0" kumimoji="0" lang="en-US" altLang="ko-KR" sz="1000" b="1" i="0" u="none" strike="noStrike" kern="0" cap="none" spc="300" normalizeH="0" baseline="0" mc:Ignorable="hp" hp:hslEmbossed="0">
              <a:solidFill>
                <a:srgbClr val="f2f4f8"/>
              </a:solidFill>
              <a:latin typeface="Impact"/>
              <a:ea typeface="Impact"/>
              <a:cs typeface="Impact"/>
            </a:endParaRPr>
          </a:p>
        </p:txBody>
      </p:sp>
      <p:sp>
        <p:nvSpPr>
          <p:cNvPr id="45" name="Text 2"/>
          <p:cNvSpPr/>
          <p:nvPr/>
        </p:nvSpPr>
        <p:spPr>
          <a:xfrm>
            <a:off x="7346883" y="3851560"/>
            <a:ext cx="1056775" cy="180273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000" b="1" i="0" u="none" strike="noStrike" kern="0" cap="none" spc="300" normalizeH="0" baseline="0" mc:Ignorable="hp" hp:hslEmbossed="0">
                <a:solidFill>
                  <a:srgbClr val="f2f4f8"/>
                </a:solidFill>
                <a:latin typeface="Impact"/>
                <a:ea typeface="Impact"/>
                <a:cs typeface="Impact"/>
              </a:rPr>
              <a:t>Idle</a:t>
            </a:r>
            <a:endParaRPr xmlns:mc="http://schemas.openxmlformats.org/markup-compatibility/2006" xmlns:hp="http://schemas.haansoft.com/office/presentation/8.0" kumimoji="0" lang="en-US" altLang="ko-KR" sz="1000" b="1" i="0" u="none" strike="noStrike" kern="0" cap="none" spc="300" normalizeH="0" baseline="0" mc:Ignorable="hp" hp:hslEmbossed="0">
              <a:solidFill>
                <a:srgbClr val="f2f4f8"/>
              </a:solidFill>
              <a:latin typeface="Impact"/>
              <a:ea typeface="Impact"/>
              <a:cs typeface="Impact"/>
            </a:endParaRPr>
          </a:p>
        </p:txBody>
      </p:sp>
      <p:sp>
        <p:nvSpPr>
          <p:cNvPr id="46" name="오른쪽 화살표 45"/>
          <p:cNvSpPr/>
          <p:nvPr/>
        </p:nvSpPr>
        <p:spPr>
          <a:xfrm>
            <a:off x="2313873" y="2338638"/>
            <a:ext cx="401453" cy="46622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en-US" altLang="ko-KR"/>
          </a:p>
        </p:txBody>
      </p:sp>
      <p:sp>
        <p:nvSpPr>
          <p:cNvPr id="47" name="오른쪽 화살표 46"/>
          <p:cNvSpPr/>
          <p:nvPr/>
        </p:nvSpPr>
        <p:spPr>
          <a:xfrm>
            <a:off x="4481563" y="2338638"/>
            <a:ext cx="401453" cy="46622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en-US" altLang="ko-KR"/>
          </a:p>
        </p:txBody>
      </p:sp>
      <p:sp>
        <p:nvSpPr>
          <p:cNvPr id="48" name="오른쪽 화살표 47"/>
          <p:cNvSpPr/>
          <p:nvPr/>
        </p:nvSpPr>
        <p:spPr>
          <a:xfrm>
            <a:off x="6585725" y="2338638"/>
            <a:ext cx="401453" cy="46622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4">
    <p:bg>
      <p:bgPr shadeToTitle="0">
        <a:solidFill>
          <a:srgbClr val="1e20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900" b="1" kern="0" spc="300">
                <a:solidFill>
                  <a:srgbClr val="5b8def"/>
                </a:solidFill>
                <a:latin typeface="Consolas"/>
                <a:ea typeface="Consolas"/>
                <a:cs typeface="Consolas"/>
              </a:rPr>
              <a:t>// 03. GAMEPLAY</a:t>
            </a:r>
            <a:endParaRPr lang="en-US" sz="900"/>
          </a:p>
        </p:txBody>
      </p:sp>
      <p:sp>
        <p:nvSpPr>
          <p:cNvPr id="3" name="Shape 1"/>
          <p:cNvSpPr/>
          <p:nvPr/>
        </p:nvSpPr>
        <p:spPr>
          <a:xfrm>
            <a:off x="2514600" y="384048"/>
            <a:ext cx="365760" cy="0"/>
          </a:xfrm>
          <a:prstGeom prst="line">
            <a:avLst/>
          </a:prstGeom>
          <a:noFill/>
          <a:ln w="12700">
            <a:solidFill>
              <a:srgbClr val="5b8def"/>
            </a:solidFill>
            <a:prstDash val="solid"/>
          </a:ln>
        </p:spPr>
        <p:txBody>
          <a:bodyPr wrap="square"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6" name="Text 2"/>
          <p:cNvSpPr/>
          <p:nvPr/>
        </p:nvSpPr>
        <p:spPr>
          <a:xfrm>
            <a:off x="457200" y="579320"/>
            <a:ext cx="8229600" cy="36054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000" b="1" i="0" u="none" strike="noStrike" kern="0" cap="none" spc="300" normalizeH="0" baseline="0" mc:Ignorable="hp" hp:hslEmbossed="0">
                <a:solidFill>
                  <a:srgbClr val="f2f4f8"/>
                </a:solidFill>
                <a:latin typeface="Impact"/>
                <a:ea typeface="Impact"/>
                <a:cs typeface="Impact"/>
              </a:rPr>
              <a:t>소음 시스템 </a:t>
            </a:r>
            <a:endParaRPr xmlns:mc="http://schemas.openxmlformats.org/markup-compatibility/2006" xmlns:hp="http://schemas.haansoft.com/office/presentation/8.0" kumimoji="0" lang="ko-KR" altLang="en-US" sz="2000" b="1" i="0" u="none" strike="noStrike" kern="0" cap="none" spc="300" normalizeH="0" baseline="0" mc:Ignorable="hp" hp:hslEmbossed="0">
              <a:solidFill>
                <a:srgbClr val="f2f4f8"/>
              </a:solidFill>
              <a:latin typeface="Impact"/>
              <a:ea typeface="Impact"/>
              <a:cs typeface="Impact"/>
            </a:endParaRPr>
          </a:p>
        </p:txBody>
      </p:sp>
      <p:sp>
        <p:nvSpPr>
          <p:cNvPr id="27" name="Shape 3"/>
          <p:cNvSpPr/>
          <p:nvPr/>
        </p:nvSpPr>
        <p:spPr>
          <a:xfrm>
            <a:off x="457200" y="939866"/>
            <a:ext cx="8229600" cy="0"/>
          </a:xfrm>
          <a:prstGeom prst="line">
            <a:avLst/>
          </a:prstGeom>
          <a:noFill/>
          <a:ln w="12700">
            <a:solidFill>
              <a:srgbClr val="5b8def">
                <a:alpha val="100000"/>
              </a:srgbClr>
            </a:solidFill>
            <a:prstDash val="solid"/>
          </a:ln>
        </p:spPr>
        <p:txBody>
          <a:bodyPr wrap="square" anchor="ctr"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pic>
        <p:nvPicPr>
          <p:cNvPr id="46" name="그림 4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324228" y="384048"/>
            <a:ext cx="6495543" cy="49156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4">
    <p:bg>
      <p:bgPr shadeToTitle="0">
        <a:solidFill>
          <a:srgbClr val="1e20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900" b="1" kern="0" spc="300">
                <a:solidFill>
                  <a:srgbClr val="5b8def"/>
                </a:solidFill>
                <a:latin typeface="Consolas"/>
                <a:ea typeface="Consolas"/>
                <a:cs typeface="Consolas"/>
              </a:rPr>
              <a:t>// 03. GAMEPLAY</a:t>
            </a:r>
            <a:endParaRPr lang="en-US" sz="900"/>
          </a:p>
        </p:txBody>
      </p:sp>
      <p:sp>
        <p:nvSpPr>
          <p:cNvPr id="3" name="Shape 1"/>
          <p:cNvSpPr/>
          <p:nvPr/>
        </p:nvSpPr>
        <p:spPr>
          <a:xfrm>
            <a:off x="2514600" y="384048"/>
            <a:ext cx="365760" cy="0"/>
          </a:xfrm>
          <a:prstGeom prst="line">
            <a:avLst/>
          </a:prstGeom>
          <a:noFill/>
          <a:ln w="12700">
            <a:solidFill>
              <a:srgbClr val="5b8def"/>
            </a:solidFill>
            <a:prstDash val="solid"/>
          </a:ln>
        </p:spPr>
        <p:txBody>
          <a:bodyPr wrap="square"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800" kern="0" spc="200">
                <a:solidFill>
                  <a:srgbClr val="7a8394"/>
                </a:solidFill>
                <a:latin typeface="Consolas"/>
                <a:ea typeface="Consolas"/>
                <a:cs typeface="Consolas"/>
              </a:rPr>
              <a:t>DEADLINE  ·  Game Dev Presentation</a:t>
            </a:r>
            <a:endParaRPr lang="en-US" sz="800"/>
          </a:p>
        </p:txBody>
      </p:sp>
      <p:sp>
        <p:nvSpPr>
          <p:cNvPr id="26" name="Text 2"/>
          <p:cNvSpPr/>
          <p:nvPr/>
        </p:nvSpPr>
        <p:spPr>
          <a:xfrm>
            <a:off x="457200" y="579320"/>
            <a:ext cx="8229600" cy="36054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000" b="1" i="0" u="none" strike="noStrike" kern="0" cap="none" spc="300" normalizeH="0" baseline="0" mc:Ignorable="hp" hp:hslEmbossed="0">
                <a:solidFill>
                  <a:srgbClr val="f2f4f8"/>
                </a:solidFill>
                <a:latin typeface="Impact"/>
                <a:ea typeface="Impact"/>
                <a:cs typeface="Impact"/>
              </a:rPr>
              <a:t>게임플레이 흐름 </a:t>
            </a:r>
            <a:endParaRPr xmlns:mc="http://schemas.openxmlformats.org/markup-compatibility/2006" xmlns:hp="http://schemas.haansoft.com/office/presentation/8.0" kumimoji="0" lang="ko-KR" altLang="en-US" sz="2000" b="1" i="0" u="none" strike="noStrike" kern="0" cap="none" spc="300" normalizeH="0" baseline="0" mc:Ignorable="hp" hp:hslEmbossed="0">
              <a:solidFill>
                <a:srgbClr val="f2f4f8"/>
              </a:solidFill>
              <a:latin typeface="Impact"/>
              <a:ea typeface="Impact"/>
              <a:cs typeface="Impact"/>
            </a:endParaRPr>
          </a:p>
        </p:txBody>
      </p:sp>
      <p:sp>
        <p:nvSpPr>
          <p:cNvPr id="27" name="Shape 3"/>
          <p:cNvSpPr/>
          <p:nvPr/>
        </p:nvSpPr>
        <p:spPr>
          <a:xfrm>
            <a:off x="457200" y="939866"/>
            <a:ext cx="8229600" cy="0"/>
          </a:xfrm>
          <a:prstGeom prst="line">
            <a:avLst/>
          </a:prstGeom>
          <a:noFill/>
          <a:ln w="12700">
            <a:solidFill>
              <a:srgbClr val="5b8def">
                <a:alpha val="100000"/>
              </a:srgbClr>
            </a:solidFill>
            <a:prstDash val="solid"/>
          </a:ln>
        </p:spPr>
        <p:txBody>
          <a:bodyPr wrap="square" anchor="ctr"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pic>
        <p:nvPicPr>
          <p:cNvPr id="46" name="그림 4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572000" y="2961243"/>
            <a:ext cx="2520315" cy="1416446"/>
          </a:xfrm>
          <a:prstGeom prst="rect">
            <a:avLst/>
          </a:prstGeom>
        </p:spPr>
      </p:pic>
      <p:pic>
        <p:nvPicPr>
          <p:cNvPr id="47" name="그림 4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572000" y="1155303"/>
            <a:ext cx="2520315" cy="1416446"/>
          </a:xfrm>
          <a:prstGeom prst="rect">
            <a:avLst/>
          </a:prstGeom>
        </p:spPr>
      </p:pic>
      <p:pic>
        <p:nvPicPr>
          <p:cNvPr id="48" name="그림 4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620202" y="1155303"/>
            <a:ext cx="2520314" cy="1417677"/>
          </a:xfrm>
          <a:prstGeom prst="rect">
            <a:avLst/>
          </a:prstGeom>
        </p:spPr>
      </p:pic>
      <p:pic>
        <p:nvPicPr>
          <p:cNvPr id="49" name="그림 48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620202" y="2961243"/>
            <a:ext cx="2520315" cy="1416446"/>
          </a:xfrm>
          <a:prstGeom prst="rect">
            <a:avLst/>
          </a:prstGeom>
        </p:spPr>
      </p:pic>
      <p:sp>
        <p:nvSpPr>
          <p:cNvPr id="50" name="Text 2"/>
          <p:cNvSpPr/>
          <p:nvPr/>
        </p:nvSpPr>
        <p:spPr>
          <a:xfrm>
            <a:off x="2351972" y="2633382"/>
            <a:ext cx="1056775" cy="180273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1" i="0" u="none" strike="noStrike" kern="0" cap="none" spc="300" normalizeH="0" baseline="0" mc:Ignorable="hp" hp:hslEmbossed="0">
                <a:solidFill>
                  <a:srgbClr val="f2f4f8"/>
                </a:solidFill>
                <a:latin typeface="나눔고딕"/>
                <a:ea typeface="나눔고딕"/>
                <a:cs typeface="맑은 고딕 Semilight"/>
              </a:rPr>
              <a:t>탐색</a:t>
            </a:r>
            <a:endParaRPr xmlns:mc="http://schemas.openxmlformats.org/markup-compatibility/2006" xmlns:hp="http://schemas.haansoft.com/office/presentation/8.0" kumimoji="0" lang="ko-KR" altLang="en-US" sz="1000" b="1" i="0" u="none" strike="noStrike" kern="0" cap="none" spc="300" normalizeH="0" baseline="0" mc:Ignorable="hp" hp:hslEmbossed="0">
              <a:solidFill>
                <a:srgbClr val="f2f4f8"/>
              </a:solidFill>
              <a:latin typeface="나눔고딕"/>
              <a:ea typeface="나눔고딕"/>
              <a:cs typeface="맑은 고딕 Semilight"/>
            </a:endParaRPr>
          </a:p>
        </p:txBody>
      </p:sp>
      <p:sp>
        <p:nvSpPr>
          <p:cNvPr id="51" name="Text 2"/>
          <p:cNvSpPr/>
          <p:nvPr/>
        </p:nvSpPr>
        <p:spPr>
          <a:xfrm>
            <a:off x="5303770" y="2633382"/>
            <a:ext cx="1056775" cy="180273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1" i="0" u="none" strike="noStrike" kern="0" cap="none" spc="300" normalizeH="0" baseline="0" mc:Ignorable="hp" hp:hslEmbossed="0">
                <a:solidFill>
                  <a:srgbClr val="f2f4f8"/>
                </a:solidFill>
                <a:latin typeface="나눔고딕"/>
                <a:ea typeface="나눔고딕"/>
                <a:cs typeface="맑은 고딕 Semilight"/>
              </a:rPr>
              <a:t>수집</a:t>
            </a:r>
            <a:endParaRPr xmlns:mc="http://schemas.openxmlformats.org/markup-compatibility/2006" xmlns:hp="http://schemas.haansoft.com/office/presentation/8.0" kumimoji="0" lang="ko-KR" altLang="en-US" sz="1000" b="1" i="0" u="none" strike="noStrike" kern="0" cap="none" spc="300" normalizeH="0" baseline="0" mc:Ignorable="hp" hp:hslEmbossed="0">
              <a:solidFill>
                <a:srgbClr val="f2f4f8"/>
              </a:solidFill>
              <a:latin typeface="나눔고딕"/>
              <a:ea typeface="나눔고딕"/>
              <a:cs typeface="맑은 고딕 Semilight"/>
            </a:endParaRPr>
          </a:p>
        </p:txBody>
      </p:sp>
      <p:sp>
        <p:nvSpPr>
          <p:cNvPr id="52" name="Text 2"/>
          <p:cNvSpPr/>
          <p:nvPr/>
        </p:nvSpPr>
        <p:spPr>
          <a:xfrm>
            <a:off x="2351972" y="4439322"/>
            <a:ext cx="1056775" cy="180273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1" i="0" u="none" strike="noStrike" kern="0" cap="none" spc="300" normalizeH="0" baseline="0" mc:Ignorable="hp" hp:hslEmbossed="0">
                <a:solidFill>
                  <a:srgbClr val="f2f4f8"/>
                </a:solidFill>
                <a:latin typeface="나눔고딕"/>
                <a:ea typeface="나눔고딕"/>
                <a:cs typeface="맑은 고딕 Semilight"/>
              </a:rPr>
              <a:t>회피</a:t>
            </a:r>
            <a:endParaRPr xmlns:mc="http://schemas.openxmlformats.org/markup-compatibility/2006" xmlns:hp="http://schemas.haansoft.com/office/presentation/8.0" kumimoji="0" lang="ko-KR" altLang="en-US" sz="1000" b="1" i="0" u="none" strike="noStrike" kern="0" cap="none" spc="300" normalizeH="0" baseline="0" mc:Ignorable="hp" hp:hslEmbossed="0">
              <a:solidFill>
                <a:srgbClr val="f2f4f8"/>
              </a:solidFill>
              <a:latin typeface="나눔고딕"/>
              <a:ea typeface="나눔고딕"/>
              <a:cs typeface="맑은 고딕 Semilight"/>
            </a:endParaRPr>
          </a:p>
        </p:txBody>
      </p:sp>
      <p:sp>
        <p:nvSpPr>
          <p:cNvPr id="53" name="Text 2"/>
          <p:cNvSpPr/>
          <p:nvPr/>
        </p:nvSpPr>
        <p:spPr>
          <a:xfrm>
            <a:off x="-599825" y="6183630"/>
            <a:ext cx="1056775" cy="180273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1" i="0" u="none" strike="noStrike" kern="0" cap="none" spc="300" normalizeH="0" baseline="0" mc:Ignorable="hp" hp:hslEmbossed="0">
                <a:solidFill>
                  <a:srgbClr val="f2f4f8"/>
                </a:solidFill>
                <a:latin typeface="Impact"/>
                <a:ea typeface="Impact"/>
                <a:cs typeface="Impact"/>
              </a:rPr>
              <a:t>탐색</a:t>
            </a:r>
            <a:endParaRPr xmlns:mc="http://schemas.openxmlformats.org/markup-compatibility/2006" xmlns:hp="http://schemas.haansoft.com/office/presentation/8.0" kumimoji="0" lang="ko-KR" altLang="en-US" sz="1000" b="1" i="0" u="none" strike="noStrike" kern="0" cap="none" spc="300" normalizeH="0" baseline="0" mc:Ignorable="hp" hp:hslEmbossed="0">
              <a:solidFill>
                <a:srgbClr val="f2f4f8"/>
              </a:solidFill>
              <a:latin typeface="Impact"/>
              <a:ea typeface="Impact"/>
              <a:cs typeface="Impact"/>
            </a:endParaRPr>
          </a:p>
        </p:txBody>
      </p:sp>
      <p:sp>
        <p:nvSpPr>
          <p:cNvPr id="54" name="Text 2"/>
          <p:cNvSpPr/>
          <p:nvPr/>
        </p:nvSpPr>
        <p:spPr>
          <a:xfrm>
            <a:off x="5303770" y="4439322"/>
            <a:ext cx="1056775" cy="180273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1" i="0" u="none" strike="noStrike" kern="0" cap="none" spc="300" normalizeH="0" baseline="0" mc:Ignorable="hp" hp:hslEmbossed="0">
                <a:solidFill>
                  <a:srgbClr val="f2f4f8"/>
                </a:solidFill>
                <a:latin typeface="나눔고딕"/>
                <a:ea typeface="나눔고딕"/>
                <a:cs typeface="맑은 고딕 Semilight"/>
              </a:rPr>
              <a:t>탈출</a:t>
            </a:r>
            <a:endParaRPr xmlns:mc="http://schemas.openxmlformats.org/markup-compatibility/2006" xmlns:hp="http://schemas.haansoft.com/office/presentation/8.0" kumimoji="0" lang="ko-KR" altLang="en-US" sz="1000" b="1" i="0" u="none" strike="noStrike" kern="0" cap="none" spc="300" normalizeH="0" baseline="0" mc:Ignorable="hp" hp:hslEmbossed="0">
              <a:solidFill>
                <a:srgbClr val="f2f4f8"/>
              </a:solidFill>
              <a:latin typeface="나눔고딕"/>
              <a:ea typeface="나눔고딕"/>
              <a:cs typeface="맑은 고딕 Semiligh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5">
    <p:bg>
      <p:bgPr shadeToTitle="0">
        <a:solidFill>
          <a:srgbClr val="1e20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900" b="1" kern="0" spc="300">
                <a:solidFill>
                  <a:srgbClr val="5b8def"/>
                </a:solidFill>
                <a:latin typeface="Consolas"/>
                <a:ea typeface="Consolas"/>
                <a:cs typeface="Consolas"/>
              </a:rPr>
              <a:t>// 03. GAMEPLAY — DIFF</a:t>
            </a:r>
            <a:endParaRPr lang="en-US" sz="900"/>
          </a:p>
        </p:txBody>
      </p:sp>
      <p:sp>
        <p:nvSpPr>
          <p:cNvPr id="3" name="Shape 1"/>
          <p:cNvSpPr/>
          <p:nvPr/>
        </p:nvSpPr>
        <p:spPr>
          <a:xfrm>
            <a:off x="2514600" y="384048"/>
            <a:ext cx="365760" cy="0"/>
          </a:xfrm>
          <a:prstGeom prst="line">
            <a:avLst/>
          </a:prstGeom>
          <a:noFill/>
          <a:ln w="12700">
            <a:solidFill>
              <a:srgbClr val="5b8def"/>
            </a:solidFill>
            <a:prstDash val="solid"/>
          </a:ln>
        </p:spPr>
        <p:txBody>
          <a:bodyPr wrap="square"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3400" b="1" kern="0" spc="300">
                <a:solidFill>
                  <a:srgbClr val="f2f4f8"/>
                </a:solidFill>
                <a:latin typeface="Impact"/>
                <a:ea typeface="Impact"/>
                <a:cs typeface="Impact"/>
              </a:rPr>
              <a:t>차별화된 구현 포인트</a:t>
            </a:r>
            <a:endParaRPr lang="en-US" sz="3400" b="1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0"/>
          </a:xfrm>
          <a:prstGeom prst="line">
            <a:avLst/>
          </a:prstGeom>
          <a:noFill/>
          <a:ln w="12700">
            <a:solidFill>
              <a:srgbClr val="5b8def"/>
            </a:solidFill>
            <a:prstDash val="solid"/>
          </a:ln>
        </p:spPr>
        <p:txBody>
          <a:bodyPr wrap="square"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914400"/>
          </a:xfrm>
          <a:prstGeom prst="rect">
            <a:avLst/>
          </a:prstGeom>
          <a:solidFill>
            <a:srgbClr val="2d3140"/>
          </a:solidFill>
          <a:ln w="6350">
            <a:solidFill>
              <a:srgbClr val="5b8def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54864" cy="914400"/>
          </a:xfrm>
          <a:prstGeom prst="rect">
            <a:avLst/>
          </a:prstGeom>
          <a:solidFill>
            <a:srgbClr val="7ba7ff"/>
          </a:solidFill>
          <a:ln/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080" y="15727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1500" b="1">
                <a:solidFill>
                  <a:srgbClr val="f2f4f8"/>
                </a:solidFill>
                <a:latin typeface="Calibri"/>
                <a:ea typeface="Calibri"/>
                <a:cs typeface="Calibri"/>
              </a:rPr>
              <a:t>🎮  몬스터가 '비명'을 지른 후 추격 — 공포 연출과 게임 메카닉의 결합</a:t>
            </a:r>
            <a:endParaRPr lang="en-US" sz="150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2651760" cy="2286000"/>
          </a:xfrm>
          <a:prstGeom prst="rect">
            <a:avLst/>
          </a:prstGeom>
          <a:solidFill>
            <a:srgbClr val="2a2d35"/>
          </a:solidFill>
          <a:ln w="6350">
            <a:solidFill>
              <a:srgbClr val="5b8def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54864" cy="2286000"/>
          </a:xfrm>
          <a:prstGeom prst="rect">
            <a:avLst/>
          </a:prstGeom>
          <a:solidFill>
            <a:srgbClr val="5b8def"/>
          </a:solidFill>
          <a:ln/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40080" y="30815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1400" b="1">
                <a:solidFill>
                  <a:srgbClr val="7ba7ff"/>
                </a:solidFill>
                <a:latin typeface="Calibri"/>
                <a:ea typeface="Calibri"/>
                <a:cs typeface="Calibri"/>
              </a:rPr>
              <a:t>소음 반응형 AI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640080" y="34747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lnSpc>
                <a:spcPct val="150000"/>
              </a:lnSpc>
              <a:buNone/>
              <a:defRPr/>
            </a:pPr>
            <a:r>
              <a:rPr lang="en-US" sz="115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발소리 이벤트를 감지. </a:t>
            </a:r>
            <a:endParaRPr lang="en-US" sz="1150">
              <a:solidFill>
                <a:srgbClr val="b0b8c8"/>
              </a:solidFill>
              <a:latin typeface="Calibri"/>
              <a:ea typeface="Calibri"/>
              <a:cs typeface="Calibri"/>
            </a:endParaRPr>
          </a:p>
          <a:p>
            <a:pPr marL="0" lvl="0" indent="0" algn="l">
              <a:lnSpc>
                <a:spcPct val="150000"/>
              </a:lnSpc>
              <a:buNone/>
              <a:defRPr/>
            </a:pPr>
            <a:r>
              <a:rPr lang="en-US" sz="115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최신 소음 위치로 NavMesh </a:t>
            </a:r>
            <a:endParaRPr lang="en-US" sz="1150">
              <a:solidFill>
                <a:srgbClr val="b0b8c8"/>
              </a:solidFill>
              <a:latin typeface="Calibri"/>
              <a:ea typeface="Calibri"/>
              <a:cs typeface="Calibri"/>
            </a:endParaRPr>
          </a:p>
          <a:p>
            <a:pPr marL="0" lvl="0" indent="0" algn="l">
              <a:lnSpc>
                <a:spcPct val="150000"/>
              </a:lnSpc>
              <a:buNone/>
              <a:defRPr/>
            </a:pPr>
            <a:r>
              <a:rPr lang="en-US" sz="115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목적지 업데이트. </a:t>
            </a:r>
            <a:endParaRPr lang="en-US" sz="1150">
              <a:solidFill>
                <a:srgbClr val="b0b8c8"/>
              </a:solidFill>
              <a:latin typeface="Calibri"/>
              <a:ea typeface="Calibri"/>
              <a:cs typeface="Calibri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sz="115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도착 후 짧은 대기 → Idle </a:t>
            </a:r>
            <a:r>
              <a:rPr lang="en-US" altLang="ko-KR" sz="115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→ </a:t>
            </a:r>
            <a:r>
              <a:rPr lang="en-US" sz="115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복귀.</a:t>
            </a:r>
            <a:endParaRPr lang="en-US" sz="1150"/>
          </a:p>
        </p:txBody>
      </p:sp>
      <p:sp>
        <p:nvSpPr>
          <p:cNvPr id="14" name="Shape 12"/>
          <p:cNvSpPr/>
          <p:nvPr/>
        </p:nvSpPr>
        <p:spPr>
          <a:xfrm>
            <a:off x="3355848" y="2514600"/>
            <a:ext cx="2651760" cy="2286000"/>
          </a:xfrm>
          <a:prstGeom prst="rect">
            <a:avLst/>
          </a:prstGeom>
          <a:solidFill>
            <a:srgbClr val="2a2d35"/>
          </a:solidFill>
          <a:ln w="6350">
            <a:solidFill>
              <a:srgbClr val="5b8def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3355848" y="2514600"/>
            <a:ext cx="54864" cy="2286000"/>
          </a:xfrm>
          <a:prstGeom prst="rect">
            <a:avLst/>
          </a:prstGeom>
          <a:solidFill>
            <a:srgbClr val="5b8def"/>
          </a:solidFill>
          <a:ln/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538728" y="26517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2800" kern="0" spc="200">
                <a:solidFill>
                  <a:srgbClr val="2d3140"/>
                </a:solidFill>
                <a:latin typeface="Impact"/>
                <a:ea typeface="Impact"/>
                <a:cs typeface="Impact"/>
              </a:rPr>
              <a:t>02</a:t>
            </a:r>
            <a:endParaRPr lang="en-US" sz="2800"/>
          </a:p>
        </p:txBody>
      </p:sp>
      <p:sp>
        <p:nvSpPr>
          <p:cNvPr id="17" name="Text 15"/>
          <p:cNvSpPr/>
          <p:nvPr/>
        </p:nvSpPr>
        <p:spPr>
          <a:xfrm>
            <a:off x="3538728" y="30815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1400" b="1">
                <a:solidFill>
                  <a:srgbClr val="7ba7ff"/>
                </a:solidFill>
                <a:latin typeface="Calibri"/>
                <a:ea typeface="Calibri"/>
                <a:cs typeface="Calibri"/>
              </a:rPr>
              <a:t>State.Blocked 처리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3538728" y="34747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lnSpc>
                <a:spcPct val="150000"/>
              </a:lnSpc>
              <a:buNone/>
              <a:defRPr/>
            </a:pPr>
            <a:r>
              <a:rPr lang="en-US" sz="115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NavMesh 상 도달 불가 지점 감지 시 State.Blocked 상태로 전환. </a:t>
            </a:r>
            <a:endParaRPr lang="en-US" sz="1150">
              <a:solidFill>
                <a:srgbClr val="b0b8c8"/>
              </a:solidFill>
              <a:latin typeface="Calibri"/>
              <a:ea typeface="Calibri"/>
              <a:cs typeface="Calibri"/>
            </a:endParaRPr>
          </a:p>
          <a:p>
            <a:pPr marL="0" lvl="0" indent="0" algn="l">
              <a:lnSpc>
                <a:spcPct val="150000"/>
              </a:lnSpc>
              <a:buNone/>
              <a:defRPr/>
            </a:pPr>
            <a:r>
              <a:rPr lang="en-US" sz="115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무한 탐색 루프 방지. </a:t>
            </a:r>
            <a:endParaRPr lang="en-US" sz="1150">
              <a:solidFill>
                <a:srgbClr val="b0b8c8"/>
              </a:solidFill>
              <a:latin typeface="Calibri"/>
              <a:ea typeface="Calibri"/>
              <a:cs typeface="Calibri"/>
            </a:endParaRPr>
          </a:p>
          <a:p>
            <a:pPr marL="0" lvl="0" indent="0" algn="l">
              <a:lnSpc>
                <a:spcPct val="150000"/>
              </a:lnSpc>
              <a:buNone/>
              <a:defRPr/>
            </a:pPr>
            <a:r>
              <a:rPr lang="en-US" sz="115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같은 State 재진입 가드 처리 완료.</a:t>
            </a:r>
            <a:endParaRPr lang="en-US" sz="1150"/>
          </a:p>
        </p:txBody>
      </p:sp>
      <p:sp>
        <p:nvSpPr>
          <p:cNvPr id="19" name="Shape 17"/>
          <p:cNvSpPr/>
          <p:nvPr/>
        </p:nvSpPr>
        <p:spPr>
          <a:xfrm>
            <a:off x="6254496" y="2514600"/>
            <a:ext cx="2651760" cy="2286000"/>
          </a:xfrm>
          <a:prstGeom prst="rect">
            <a:avLst/>
          </a:prstGeom>
          <a:solidFill>
            <a:srgbClr val="2a2d35"/>
          </a:solidFill>
          <a:ln w="6350">
            <a:solidFill>
              <a:srgbClr val="5b8def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254496" y="2514600"/>
            <a:ext cx="54864" cy="2286000"/>
          </a:xfrm>
          <a:prstGeom prst="rect">
            <a:avLst/>
          </a:prstGeom>
          <a:solidFill>
            <a:srgbClr val="5b8def"/>
          </a:solidFill>
          <a:ln/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437376" y="26517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2800" kern="0" spc="200">
                <a:solidFill>
                  <a:srgbClr val="2d3140"/>
                </a:solidFill>
                <a:latin typeface="Impact"/>
                <a:ea typeface="Impact"/>
                <a:cs typeface="Impact"/>
              </a:rPr>
              <a:t>03</a:t>
            </a:r>
            <a:endParaRPr lang="en-US" sz="2800"/>
          </a:p>
        </p:txBody>
      </p:sp>
      <p:sp>
        <p:nvSpPr>
          <p:cNvPr id="22" name="Text 20"/>
          <p:cNvSpPr/>
          <p:nvPr/>
        </p:nvSpPr>
        <p:spPr>
          <a:xfrm>
            <a:off x="6437376" y="30815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lvl="0">
              <a:defRPr/>
            </a:pPr>
            <a:r>
              <a:rPr lang="ko-KR" altLang="en-US" sz="1400" b="1">
                <a:solidFill>
                  <a:srgbClr val="7ba7ff"/>
                </a:solidFill>
                <a:latin typeface="Calibri"/>
                <a:ea typeface="Calibri"/>
                <a:cs typeface="Calibri"/>
              </a:rPr>
              <a:t>감지 즉시 추격 지양</a:t>
            </a:r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6437376" y="34747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lvl="0">
              <a:lnSpc>
                <a:spcPct val="150000"/>
              </a:lnSpc>
              <a:defRPr/>
            </a:pPr>
            <a:r>
              <a:rPr lang="en-US" altLang="ko-KR" sz="115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1</a:t>
            </a:r>
            <a:r>
              <a:rPr lang="ko-KR" altLang="en-US" sz="115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초간의 비명</a:t>
            </a:r>
            <a:r>
              <a:rPr lang="en-US" sz="115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으로 </a:t>
            </a:r>
            <a:endParaRPr lang="en-US" sz="1150">
              <a:solidFill>
                <a:srgbClr val="b0b8c8"/>
              </a:solidFill>
              <a:latin typeface="Calibri"/>
              <a:ea typeface="Calibri"/>
              <a:cs typeface="Calibri"/>
            </a:endParaRPr>
          </a:p>
          <a:p>
            <a:pPr lvl="0">
              <a:lnSpc>
                <a:spcPct val="150000"/>
              </a:lnSpc>
              <a:defRPr/>
            </a:pPr>
            <a:r>
              <a:rPr lang="ko-KR" altLang="en-US" sz="115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플레이어에게 도망 시간 확보</a:t>
            </a:r>
            <a:r>
              <a:rPr lang="en-US" altLang="ko-KR" sz="115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ko-KR" altLang="en-US" sz="115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공포감 극대화</a:t>
            </a:r>
            <a:r>
              <a:rPr lang="en-US" altLang="ko-KR" sz="115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,</a:t>
            </a:r>
            <a:r>
              <a:rPr lang="ko-KR" altLang="en-US" sz="115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들킴 상태 인지의</a:t>
            </a:r>
            <a:endParaRPr lang="ko-KR" altLang="en-US" sz="1150">
              <a:solidFill>
                <a:srgbClr val="b0b8c8"/>
              </a:solidFill>
              <a:latin typeface="Calibri"/>
              <a:ea typeface="Calibri"/>
              <a:cs typeface="Calibri"/>
            </a:endParaRPr>
          </a:p>
          <a:p>
            <a:pPr lvl="0">
              <a:lnSpc>
                <a:spcPct val="150000"/>
              </a:lnSpc>
              <a:defRPr/>
            </a:pPr>
            <a:r>
              <a:rPr lang="ko-KR" altLang="en-US" sz="1150">
                <a:solidFill>
                  <a:srgbClr val="b0b8c8"/>
                </a:solidFill>
                <a:latin typeface="Calibri"/>
                <a:cs typeface="Calibri"/>
              </a:rPr>
              <a:t>효과를 줄 수 있음</a:t>
            </a:r>
            <a:r>
              <a:rPr lang="en-US" altLang="ko-KR" sz="1150">
                <a:solidFill>
                  <a:srgbClr val="b0b8c8"/>
                </a:solidFill>
                <a:latin typeface="Calibri"/>
                <a:cs typeface="Calibri"/>
              </a:rPr>
              <a:t>.</a:t>
            </a:r>
            <a:endParaRPr lang="en-US" altLang="ko-KR" sz="1150">
              <a:solidFill>
                <a:srgbClr val="b0b8c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800" kern="0" spc="200">
                <a:solidFill>
                  <a:srgbClr val="7a8394"/>
                </a:solidFill>
                <a:latin typeface="Consolas"/>
                <a:ea typeface="Consolas"/>
                <a:cs typeface="Consolas"/>
              </a:rPr>
              <a:t>DEADLINE  ·  Game Dev Presentation</a:t>
            </a:r>
            <a:endParaRPr lang="en-US" sz="800"/>
          </a:p>
        </p:txBody>
      </p:sp>
      <p:sp>
        <p:nvSpPr>
          <p:cNvPr id="11" name="Text 9"/>
          <p:cNvSpPr/>
          <p:nvPr/>
        </p:nvSpPr>
        <p:spPr>
          <a:xfrm>
            <a:off x="640080" y="26517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2800" kern="0" spc="200">
                <a:solidFill>
                  <a:srgbClr val="2d3140"/>
                </a:solidFill>
                <a:latin typeface="Impact"/>
                <a:ea typeface="Impact"/>
                <a:cs typeface="Impact"/>
              </a:rPr>
              <a:t>01</a:t>
            </a:r>
            <a:endParaRPr lang="en-US" sz="2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6">
    <p:bg>
      <p:bgPr shadeToTitle="0">
        <a:solidFill>
          <a:srgbClr val="1e20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20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800" kern="0" spc="200">
                <a:solidFill>
                  <a:srgbClr val="7a8394"/>
                </a:solidFill>
                <a:latin typeface="Consolas"/>
                <a:ea typeface="Consolas"/>
                <a:cs typeface="Consolas"/>
              </a:rPr>
              <a:t>DEADLINE  ·  Game Dev Presentation</a:t>
            </a:r>
            <a:endParaRPr lang="en-US" sz="800"/>
          </a:p>
        </p:txBody>
      </p:sp>
      <p:sp>
        <p:nvSpPr>
          <p:cNvPr id="2" name="Text 0"/>
          <p:cNvSpPr/>
          <p:nvPr/>
        </p:nvSpPr>
        <p:spPr>
          <a:xfrm>
            <a:off x="457200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900" b="1" kern="0" spc="300">
                <a:solidFill>
                  <a:srgbClr val="5b8def"/>
                </a:solidFill>
                <a:latin typeface="Consolas"/>
                <a:ea typeface="Consolas"/>
                <a:cs typeface="Consolas"/>
              </a:rPr>
              <a:t>// 04. TECH STACK</a:t>
            </a:r>
            <a:endParaRPr lang="en-US" sz="900"/>
          </a:p>
        </p:txBody>
      </p:sp>
      <p:sp>
        <p:nvSpPr>
          <p:cNvPr id="3" name="Shape 1"/>
          <p:cNvSpPr/>
          <p:nvPr/>
        </p:nvSpPr>
        <p:spPr>
          <a:xfrm>
            <a:off x="2514600" y="384048"/>
            <a:ext cx="365760" cy="0"/>
          </a:xfrm>
          <a:prstGeom prst="line">
            <a:avLst/>
          </a:prstGeom>
          <a:noFill/>
          <a:ln w="12700">
            <a:solidFill>
              <a:srgbClr val="5b8def"/>
            </a:solidFill>
            <a:prstDash val="solid"/>
          </a:ln>
        </p:spPr>
        <p:txBody>
          <a:bodyPr wrap="square"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3600" b="1" kern="0" spc="300">
                <a:solidFill>
                  <a:srgbClr val="f2f4f8"/>
                </a:solidFill>
                <a:latin typeface="Impact"/>
                <a:ea typeface="Impact"/>
                <a:cs typeface="Impact"/>
              </a:rPr>
              <a:t>주요 구현 기술</a:t>
            </a:r>
            <a:endParaRPr lang="en-US" sz="3600" b="1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0"/>
          </a:xfrm>
          <a:prstGeom prst="line">
            <a:avLst/>
          </a:prstGeom>
          <a:noFill/>
          <a:ln w="12700">
            <a:solidFill>
              <a:srgbClr val="5b8def"/>
            </a:solidFill>
            <a:prstDash val="solid"/>
          </a:ln>
        </p:spPr>
        <p:txBody>
          <a:bodyPr wrap="square"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114800" cy="1627632"/>
          </a:xfrm>
          <a:prstGeom prst="rect">
            <a:avLst/>
          </a:prstGeom>
          <a:solidFill>
            <a:srgbClr val="2a2d35"/>
          </a:solidFill>
          <a:ln w="6350">
            <a:solidFill>
              <a:srgbClr val="5b8def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54864" cy="1627632"/>
          </a:xfrm>
          <a:prstGeom prst="rect">
            <a:avLst/>
          </a:prstGeom>
          <a:solidFill>
            <a:srgbClr val="7ba7ff"/>
          </a:solidFill>
          <a:ln/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080" y="1508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1300" b="1">
                <a:solidFill>
                  <a:srgbClr val="5b8def"/>
                </a:solidFill>
                <a:latin typeface="Consolas"/>
                <a:ea typeface="Consolas"/>
                <a:cs typeface="Consolas"/>
              </a:rPr>
              <a:t>NavMesh Navigation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342900" lvl="0" indent="-342900">
              <a:lnSpc>
                <a:spcPct val="155000"/>
              </a:lnSpc>
              <a:buSzPct val="100000"/>
              <a:buChar char="•"/>
              <a:defRPr/>
            </a:pPr>
            <a:r>
              <a:rPr lang="en-US" sz="115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NavMeshAgent 기반 자율 이동</a:t>
            </a:r>
            <a:endParaRPr lang="en-US" sz="1150">
              <a:solidFill>
                <a:srgbClr val="b0b8c8"/>
              </a:solidFill>
              <a:latin typeface="Calibri"/>
              <a:ea typeface="Calibri"/>
              <a:cs typeface="Calibri"/>
            </a:endParaRPr>
          </a:p>
          <a:p>
            <a:pPr marL="342900" lvl="0" indent="-342900">
              <a:lnSpc>
                <a:spcPct val="155000"/>
              </a:lnSpc>
              <a:buSzPct val="100000"/>
              <a:buChar char="•"/>
              <a:defRPr/>
            </a:pPr>
            <a:r>
              <a:rPr lang="en-US" sz="115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동적 목적지 갱신 (SetDestination)</a:t>
            </a:r>
            <a:endParaRPr lang="en-US" sz="1150">
              <a:solidFill>
                <a:srgbClr val="b0b8c8"/>
              </a:solidFill>
              <a:latin typeface="Calibri"/>
              <a:ea typeface="Calibri"/>
              <a:cs typeface="Calibri"/>
            </a:endParaRPr>
          </a:p>
          <a:p>
            <a:pPr marL="342900" lvl="0" indent="-342900">
              <a:lnSpc>
                <a:spcPct val="155000"/>
              </a:lnSpc>
              <a:buSzPct val="100000"/>
              <a:buChar char="•"/>
              <a:defRPr/>
            </a:pPr>
            <a:r>
              <a:rPr lang="en-US" sz="115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Waypoint 순찰 → 소음 감지 추격</a:t>
            </a:r>
            <a:endParaRPr lang="en-US" sz="1150">
              <a:solidFill>
                <a:srgbClr val="b0b8c8"/>
              </a:solidFill>
              <a:latin typeface="Calibri"/>
              <a:ea typeface="Calibri"/>
              <a:cs typeface="Calibri"/>
            </a:endParaRPr>
          </a:p>
          <a:p>
            <a:pPr marL="342900" lvl="0" indent="-342900">
              <a:lnSpc>
                <a:spcPct val="155000"/>
              </a:lnSpc>
              <a:buSzPct val="100000"/>
              <a:buChar char="•"/>
              <a:defRPr/>
            </a:pPr>
            <a:r>
              <a:rPr lang="en-US" sz="115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isStopped 플래그 코루틴 내 명시적 제어</a:t>
            </a:r>
            <a:endParaRPr lang="en-US" sz="1150"/>
          </a:p>
        </p:txBody>
      </p:sp>
      <p:sp>
        <p:nvSpPr>
          <p:cNvPr id="10" name="Shape 8"/>
          <p:cNvSpPr/>
          <p:nvPr/>
        </p:nvSpPr>
        <p:spPr>
          <a:xfrm>
            <a:off x="4892040" y="1417320"/>
            <a:ext cx="4114800" cy="1627632"/>
          </a:xfrm>
          <a:prstGeom prst="rect">
            <a:avLst/>
          </a:prstGeom>
          <a:solidFill>
            <a:srgbClr val="2a2d35"/>
          </a:solidFill>
          <a:ln w="6350">
            <a:solidFill>
              <a:srgbClr val="5b8def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892040" y="1417320"/>
            <a:ext cx="54864" cy="1627632"/>
          </a:xfrm>
          <a:prstGeom prst="rect">
            <a:avLst/>
          </a:prstGeom>
          <a:solidFill>
            <a:srgbClr val="7ba7ff"/>
          </a:solidFill>
          <a:ln/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074920" y="1508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1300" b="1">
                <a:solidFill>
                  <a:srgbClr val="5b8def"/>
                </a:solidFill>
                <a:latin typeface="Consolas"/>
                <a:ea typeface="Consolas"/>
                <a:cs typeface="Consolas"/>
              </a:rPr>
              <a:t>New Input System</a:t>
            </a:r>
            <a:endParaRPr lang="en-US" sz="1300"/>
          </a:p>
        </p:txBody>
      </p:sp>
      <p:sp>
        <p:nvSpPr>
          <p:cNvPr id="13" name="Text 11"/>
          <p:cNvSpPr/>
          <p:nvPr/>
        </p:nvSpPr>
        <p:spPr>
          <a:xfrm>
            <a:off x="5074920" y="187452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342900" lvl="0" indent="-342900">
              <a:lnSpc>
                <a:spcPct val="155000"/>
              </a:lnSpc>
              <a:buSzPct val="100000"/>
              <a:buChar char="•"/>
              <a:defRPr/>
            </a:pPr>
            <a:r>
              <a:rPr lang="en-US" sz="115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UnityEngine.InputSystem 전용</a:t>
            </a:r>
            <a:endParaRPr lang="en-US" sz="1150">
              <a:solidFill>
                <a:srgbClr val="b0b8c8"/>
              </a:solidFill>
              <a:latin typeface="Calibri"/>
              <a:ea typeface="Calibri"/>
              <a:cs typeface="Calibri"/>
            </a:endParaRPr>
          </a:p>
          <a:p>
            <a:pPr marL="342900" lvl="0" indent="-342900">
              <a:lnSpc>
                <a:spcPct val="155000"/>
              </a:lnSpc>
              <a:buSzPct val="100000"/>
              <a:buChar char="•"/>
              <a:defRPr/>
            </a:pPr>
            <a:r>
              <a:rPr lang="en-US" sz="115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Keyboard.current.escapeKey.wasPressedThisFrame</a:t>
            </a:r>
            <a:endParaRPr lang="en-US" sz="1150">
              <a:solidFill>
                <a:srgbClr val="b0b8c8"/>
              </a:solidFill>
              <a:latin typeface="Calibri"/>
              <a:ea typeface="Calibri"/>
              <a:cs typeface="Calibri"/>
            </a:endParaRPr>
          </a:p>
          <a:p>
            <a:pPr marL="342900" lvl="0" indent="-342900">
              <a:lnSpc>
                <a:spcPct val="155000"/>
              </a:lnSpc>
              <a:buSzPct val="100000"/>
              <a:buChar char="•"/>
              <a:defRPr/>
            </a:pPr>
            <a:r>
              <a:rPr lang="en-US" sz="115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레거시 Input API 미사용</a:t>
            </a:r>
            <a:endParaRPr lang="en-US" sz="1150">
              <a:solidFill>
                <a:srgbClr val="b0b8c8"/>
              </a:solidFill>
              <a:latin typeface="Calibri"/>
              <a:ea typeface="Calibri"/>
              <a:cs typeface="Calibri"/>
            </a:endParaRPr>
          </a:p>
          <a:p>
            <a:pPr marL="342900" lvl="0" indent="-342900">
              <a:lnSpc>
                <a:spcPct val="155000"/>
              </a:lnSpc>
              <a:buSzPct val="100000"/>
              <a:buChar char="•"/>
              <a:defRPr/>
            </a:pPr>
            <a:r>
              <a:rPr lang="en-US" sz="115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Jump 기능 제거 (isGrounded 불안정)</a:t>
            </a:r>
            <a:endParaRPr lang="en-US" sz="1150"/>
          </a:p>
        </p:txBody>
      </p:sp>
      <p:sp>
        <p:nvSpPr>
          <p:cNvPr id="14" name="Shape 12"/>
          <p:cNvSpPr/>
          <p:nvPr/>
        </p:nvSpPr>
        <p:spPr>
          <a:xfrm>
            <a:off x="457200" y="3163824"/>
            <a:ext cx="4114800" cy="1627632"/>
          </a:xfrm>
          <a:prstGeom prst="rect">
            <a:avLst/>
          </a:prstGeom>
          <a:solidFill>
            <a:srgbClr val="2a2d35"/>
          </a:solidFill>
          <a:ln w="6350">
            <a:solidFill>
              <a:srgbClr val="5b8def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3163824"/>
            <a:ext cx="54864" cy="1627632"/>
          </a:xfrm>
          <a:prstGeom prst="rect">
            <a:avLst/>
          </a:prstGeom>
          <a:solidFill>
            <a:srgbClr val="7a8394"/>
          </a:solidFill>
          <a:ln/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0080" y="3291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1300" b="1">
                <a:solidFill>
                  <a:srgbClr val="5b8def"/>
                </a:solidFill>
                <a:latin typeface="Consolas"/>
                <a:ea typeface="Consolas"/>
                <a:cs typeface="Consolas"/>
              </a:rPr>
              <a:t>Audio System</a:t>
            </a:r>
            <a:endParaRPr lang="en-US" sz="1300"/>
          </a:p>
        </p:txBody>
      </p:sp>
      <p:sp>
        <p:nvSpPr>
          <p:cNvPr id="17" name="Text 15"/>
          <p:cNvSpPr/>
          <p:nvPr/>
        </p:nvSpPr>
        <p:spPr>
          <a:xfrm>
            <a:off x="640080" y="365760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342900" lvl="0" indent="-342900">
              <a:lnSpc>
                <a:spcPct val="155000"/>
              </a:lnSpc>
              <a:buSzPct val="100000"/>
              <a:buChar char="•"/>
              <a:defRPr/>
            </a:pPr>
            <a:r>
              <a:rPr lang="en-US" sz="115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Player: Spatial Blend 0 (2D)</a:t>
            </a:r>
            <a:endParaRPr lang="en-US" sz="1150">
              <a:solidFill>
                <a:srgbClr val="b0b8c8"/>
              </a:solidFill>
              <a:latin typeface="Calibri"/>
              <a:ea typeface="Calibri"/>
              <a:cs typeface="Calibri"/>
            </a:endParaRPr>
          </a:p>
          <a:p>
            <a:pPr marL="342900" lvl="0" indent="-342900">
              <a:lnSpc>
                <a:spcPct val="155000"/>
              </a:lnSpc>
              <a:buSzPct val="100000"/>
              <a:buChar char="•"/>
              <a:defRPr/>
            </a:pPr>
            <a:r>
              <a:rPr lang="en-US" sz="115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Monster: Spatial Blend 1 (3D)</a:t>
            </a:r>
            <a:endParaRPr lang="en-US" sz="1150">
              <a:solidFill>
                <a:srgbClr val="b0b8c8"/>
              </a:solidFill>
              <a:latin typeface="Calibri"/>
              <a:ea typeface="Calibri"/>
              <a:cs typeface="Calibri"/>
            </a:endParaRPr>
          </a:p>
          <a:p>
            <a:pPr marL="342900" lvl="0" indent="-342900">
              <a:lnSpc>
                <a:spcPct val="155000"/>
              </a:lnSpc>
              <a:buSzPct val="100000"/>
              <a:buChar char="•"/>
              <a:defRPr/>
            </a:pPr>
            <a:r>
              <a:rPr lang="en-US" sz="115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AudioMixer 채널 분리</a:t>
            </a:r>
            <a:endParaRPr lang="en-US" sz="1150">
              <a:solidFill>
                <a:srgbClr val="b0b8c8"/>
              </a:solidFill>
              <a:latin typeface="Calibri"/>
              <a:ea typeface="Calibri"/>
              <a:cs typeface="Calibri"/>
            </a:endParaRPr>
          </a:p>
          <a:p>
            <a:pPr marL="342900" lvl="0" indent="-342900">
              <a:lnSpc>
                <a:spcPct val="155000"/>
              </a:lnSpc>
              <a:buSzPct val="100000"/>
              <a:buChar char="•"/>
              <a:defRPr/>
            </a:pPr>
            <a:r>
              <a:rPr lang="en-US" sz="115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소음 이벤트 → AI 상태 전환</a:t>
            </a:r>
            <a:endParaRPr lang="en-US" sz="1150"/>
          </a:p>
        </p:txBody>
      </p:sp>
      <p:sp>
        <p:nvSpPr>
          <p:cNvPr id="18" name="Shape 16"/>
          <p:cNvSpPr/>
          <p:nvPr/>
        </p:nvSpPr>
        <p:spPr>
          <a:xfrm>
            <a:off x="4892040" y="3163824"/>
            <a:ext cx="4114800" cy="1627632"/>
          </a:xfrm>
          <a:prstGeom prst="rect">
            <a:avLst/>
          </a:prstGeom>
          <a:solidFill>
            <a:srgbClr val="2a2d35"/>
          </a:solidFill>
          <a:ln w="6350">
            <a:solidFill>
              <a:srgbClr val="5b8def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892040" y="3163824"/>
            <a:ext cx="54864" cy="1627632"/>
          </a:xfrm>
          <a:prstGeom prst="rect">
            <a:avLst/>
          </a:prstGeom>
          <a:solidFill>
            <a:srgbClr val="7a8394"/>
          </a:solidFill>
          <a:ln/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074920" y="3291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1300" b="1">
                <a:solidFill>
                  <a:srgbClr val="5b8def"/>
                </a:solidFill>
                <a:latin typeface="Consolas"/>
                <a:ea typeface="Consolas"/>
                <a:cs typeface="Consolas"/>
              </a:rPr>
              <a:t>UI / Scene</a:t>
            </a:r>
            <a:endParaRPr lang="en-US" sz="1300"/>
          </a:p>
        </p:txBody>
      </p:sp>
      <p:sp>
        <p:nvSpPr>
          <p:cNvPr id="21" name="Text 19"/>
          <p:cNvSpPr/>
          <p:nvPr/>
        </p:nvSpPr>
        <p:spPr>
          <a:xfrm>
            <a:off x="5074920" y="365760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342900" lvl="0" indent="-342900">
              <a:lnSpc>
                <a:spcPct val="155000"/>
              </a:lnSpc>
              <a:buSzPct val="100000"/>
              <a:buChar char="•"/>
              <a:defRPr/>
            </a:pPr>
            <a:r>
              <a:rPr lang="en-US" sz="115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Dark — Complete Horror UI 에셋</a:t>
            </a:r>
            <a:endParaRPr lang="en-US" sz="1150">
              <a:solidFill>
                <a:srgbClr val="b0b8c8"/>
              </a:solidFill>
              <a:latin typeface="Calibri"/>
              <a:ea typeface="Calibri"/>
              <a:cs typeface="Calibri"/>
            </a:endParaRPr>
          </a:p>
          <a:p>
            <a:pPr marL="342900" lvl="0" indent="-342900">
              <a:lnSpc>
                <a:spcPct val="155000"/>
              </a:lnSpc>
              <a:buSzPct val="100000"/>
              <a:buChar char="•"/>
              <a:defRPr/>
            </a:pPr>
            <a:r>
              <a:rPr lang="en-US" sz="115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Menu Manager </a:t>
            </a:r>
            <a:r>
              <a:rPr lang="ko-KR" altLang="en-US" sz="115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패널변경</a:t>
            </a:r>
            <a:endParaRPr lang="ko-KR" altLang="en-US" sz="1150">
              <a:solidFill>
                <a:srgbClr val="b0b8c8"/>
              </a:solidFill>
              <a:latin typeface="Calibri"/>
              <a:ea typeface="Calibri"/>
              <a:cs typeface="Calibri"/>
            </a:endParaRPr>
          </a:p>
          <a:p>
            <a:pPr marL="342900" lvl="0" indent="-342900">
              <a:lnSpc>
                <a:spcPct val="155000"/>
              </a:lnSpc>
              <a:buSzPct val="100000"/>
              <a:buChar char="•"/>
              <a:defRPr/>
            </a:pPr>
            <a:r>
              <a:rPr lang="en-US" sz="115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SceneManager.LoadScene 리셋</a:t>
            </a:r>
            <a:endParaRPr lang="en-US" sz="1150">
              <a:solidFill>
                <a:srgbClr val="b0b8c8"/>
              </a:solidFill>
              <a:latin typeface="Calibri"/>
              <a:ea typeface="Calibri"/>
              <a:cs typeface="Calibri"/>
            </a:endParaRPr>
          </a:p>
          <a:p>
            <a:pPr marL="342900" lvl="0" indent="-342900">
              <a:lnSpc>
                <a:spcPct val="155000"/>
              </a:lnSpc>
              <a:buSzPct val="100000"/>
              <a:buChar char="•"/>
              <a:defRPr/>
            </a:pPr>
            <a:r>
              <a:rPr lang="en-US" sz="115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Time.timeScale = 0 일시정지</a:t>
            </a:r>
            <a:endParaRPr lang="en-US" sz="11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7">
    <p:bg>
      <p:bgPr shadeToTitle="0">
        <a:solidFill>
          <a:srgbClr val="1e20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900" b="1" kern="0" spc="300">
                <a:solidFill>
                  <a:srgbClr val="5b8def"/>
                </a:solidFill>
                <a:latin typeface="Consolas"/>
                <a:ea typeface="Consolas"/>
                <a:cs typeface="Consolas"/>
              </a:rPr>
              <a:t>// 04. CLASS STRUCTURE</a:t>
            </a:r>
            <a:endParaRPr lang="en-US" sz="900"/>
          </a:p>
        </p:txBody>
      </p:sp>
      <p:sp>
        <p:nvSpPr>
          <p:cNvPr id="3" name="Shape 1"/>
          <p:cNvSpPr/>
          <p:nvPr/>
        </p:nvSpPr>
        <p:spPr>
          <a:xfrm>
            <a:off x="2514600" y="384048"/>
            <a:ext cx="365760" cy="0"/>
          </a:xfrm>
          <a:prstGeom prst="line">
            <a:avLst/>
          </a:prstGeom>
          <a:noFill/>
          <a:ln w="12700">
            <a:solidFill>
              <a:srgbClr val="5b8def"/>
            </a:solidFill>
            <a:prstDash val="solid"/>
          </a:ln>
        </p:spPr>
        <p:txBody>
          <a:bodyPr wrap="square"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3400" b="1" kern="0" spc="300">
                <a:solidFill>
                  <a:srgbClr val="f2f4f8"/>
                </a:solidFill>
                <a:latin typeface="Impact"/>
                <a:ea typeface="Impact"/>
                <a:cs typeface="Impact"/>
              </a:rPr>
              <a:t>클래스 구조 &amp; 상속 관계</a:t>
            </a:r>
            <a:endParaRPr lang="en-US" sz="3400" b="1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0"/>
          </a:xfrm>
          <a:prstGeom prst="line">
            <a:avLst/>
          </a:prstGeom>
          <a:noFill/>
          <a:ln w="12700">
            <a:solidFill>
              <a:srgbClr val="5b8def"/>
            </a:solidFill>
            <a:prstDash val="solid"/>
          </a:ln>
        </p:spPr>
        <p:txBody>
          <a:bodyPr wrap="square"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011680" cy="548640"/>
          </a:xfrm>
          <a:prstGeom prst="rect">
            <a:avLst/>
          </a:prstGeom>
          <a:solidFill>
            <a:srgbClr val="23262e"/>
          </a:solidFill>
          <a:ln w="10160">
            <a:solidFill>
              <a:srgbClr val="5b8def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30352" y="14721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1100" b="1">
                <a:solidFill>
                  <a:srgbClr val="7ba7ff"/>
                </a:solidFill>
                <a:latin typeface="Consolas"/>
                <a:ea typeface="Consolas"/>
                <a:cs typeface="Consolas"/>
              </a:rPr>
              <a:t>MonoBehaviour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2011680" cy="685800"/>
          </a:xfrm>
          <a:prstGeom prst="rect">
            <a:avLst/>
          </a:prstGeom>
          <a:solidFill>
            <a:srgbClr val="2a2d35"/>
          </a:solidFill>
          <a:ln w="10160">
            <a:solidFill>
              <a:srgbClr val="5b8def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30352" y="23865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lvl="0">
              <a:defRPr/>
            </a:pPr>
            <a:r>
              <a:rPr lang="en-US" sz="1100" b="1">
                <a:solidFill>
                  <a:srgbClr val="7ba7ff"/>
                </a:solidFill>
                <a:latin typeface="Consolas"/>
                <a:ea typeface="Consolas"/>
                <a:cs typeface="Consolas"/>
              </a:rPr>
              <a:t>PlayerMovement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530352" y="26791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lvl="0">
              <a:lnSpc>
                <a:spcPct val="140000"/>
              </a:lnSpc>
              <a:defRPr/>
            </a:pPr>
            <a:r>
              <a:rPr lang="en-US" sz="95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+ PlayerMove()</a:t>
            </a:r>
            <a:endParaRPr lang="en-US" sz="950">
              <a:solidFill>
                <a:srgbClr val="b0b8c8"/>
              </a:solidFill>
              <a:latin typeface="Calibri"/>
              <a:ea typeface="Calibri"/>
              <a:cs typeface="Calibri"/>
            </a:endParaRPr>
          </a:p>
          <a:p>
            <a:pPr lvl="0">
              <a:lnSpc>
                <a:spcPct val="140000"/>
              </a:lnSpc>
              <a:defRPr/>
            </a:pPr>
            <a:r>
              <a:rPr lang="en-US" sz="95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+ JumpScare()</a:t>
            </a:r>
            <a:endParaRPr lang="en-US" sz="950"/>
          </a:p>
        </p:txBody>
      </p:sp>
      <p:sp>
        <p:nvSpPr>
          <p:cNvPr id="11" name="Shape 9"/>
          <p:cNvSpPr/>
          <p:nvPr/>
        </p:nvSpPr>
        <p:spPr>
          <a:xfrm>
            <a:off x="2926080" y="2331720"/>
            <a:ext cx="2011680" cy="685800"/>
          </a:xfrm>
          <a:prstGeom prst="rect">
            <a:avLst/>
          </a:prstGeom>
          <a:solidFill>
            <a:srgbClr val="2a2d35"/>
          </a:solidFill>
          <a:ln w="10160">
            <a:solidFill>
              <a:srgbClr val="5b8def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999232" y="23865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1100" b="1">
                <a:solidFill>
                  <a:srgbClr val="7ba7ff"/>
                </a:solidFill>
                <a:latin typeface="Consolas"/>
                <a:ea typeface="Consolas"/>
                <a:cs typeface="Consolas"/>
              </a:rPr>
              <a:t>MonsterAI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2999232" y="26791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lnSpc>
                <a:spcPct val="140000"/>
              </a:lnSpc>
              <a:buNone/>
              <a:defRPr/>
            </a:pPr>
            <a:r>
              <a:rPr lang="en-US" sz="95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+ state: State</a:t>
            </a:r>
            <a:endParaRPr lang="en-US" sz="950">
              <a:solidFill>
                <a:srgbClr val="b0b8c8"/>
              </a:solidFill>
              <a:latin typeface="Calibri"/>
              <a:ea typeface="Calibri"/>
              <a:cs typeface="Calibri"/>
            </a:endParaRPr>
          </a:p>
          <a:p>
            <a:pPr marL="0" lvl="0" indent="0" algn="l">
              <a:lnSpc>
                <a:spcPct val="140000"/>
              </a:lnSpc>
              <a:buNone/>
              <a:defRPr/>
            </a:pPr>
            <a:r>
              <a:rPr lang="en-US" sz="95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+ </a:t>
            </a:r>
            <a:r>
              <a:rPr lang="en-US" altLang="ko-KR" sz="95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ChangeState(State next)</a:t>
            </a:r>
            <a:endParaRPr lang="en-US" altLang="ko-KR" sz="950">
              <a:solidFill>
                <a:srgbClr val="b0b8c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394960" y="2331720"/>
            <a:ext cx="2011680" cy="685800"/>
          </a:xfrm>
          <a:prstGeom prst="rect">
            <a:avLst/>
          </a:prstGeom>
          <a:solidFill>
            <a:srgbClr val="2a2d35"/>
          </a:solidFill>
          <a:ln w="10160">
            <a:solidFill>
              <a:srgbClr val="5b8def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468112" y="23865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1100" b="1">
                <a:solidFill>
                  <a:srgbClr val="7ba7ff"/>
                </a:solidFill>
                <a:latin typeface="Consolas"/>
                <a:ea typeface="Consolas"/>
                <a:cs typeface="Consolas"/>
              </a:rPr>
              <a:t>GameManager</a:t>
            </a:r>
            <a:endParaRPr lang="en-US" sz="1100"/>
          </a:p>
        </p:txBody>
      </p:sp>
      <p:sp>
        <p:nvSpPr>
          <p:cNvPr id="16" name="Text 14"/>
          <p:cNvSpPr/>
          <p:nvPr/>
        </p:nvSpPr>
        <p:spPr>
          <a:xfrm>
            <a:off x="5468112" y="26791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lnSpc>
                <a:spcPct val="140000"/>
              </a:lnSpc>
              <a:buNone/>
              <a:defRPr/>
            </a:pPr>
            <a:r>
              <a:rPr lang="en-US" sz="95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+ timer</a:t>
            </a:r>
            <a:endParaRPr lang="en-US" sz="950">
              <a:solidFill>
                <a:srgbClr val="b0b8c8"/>
              </a:solidFill>
              <a:latin typeface="Calibri"/>
              <a:ea typeface="Calibri"/>
              <a:cs typeface="Calibri"/>
            </a:endParaRPr>
          </a:p>
          <a:p>
            <a:pPr lvl="0">
              <a:lnSpc>
                <a:spcPct val="140000"/>
              </a:lnSpc>
              <a:defRPr/>
            </a:pPr>
            <a:r>
              <a:rPr lang="en-US" sz="95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+ currentState: GameState </a:t>
            </a:r>
            <a:endParaRPr lang="en-US" sz="950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2011680" cy="728016"/>
          </a:xfrm>
          <a:prstGeom prst="rect">
            <a:avLst/>
          </a:prstGeom>
          <a:solidFill>
            <a:srgbClr val="2d3140"/>
          </a:solidFill>
          <a:ln w="10160">
            <a:solidFill>
              <a:srgbClr val="5b8def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30352" y="343814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lvl="0">
              <a:defRPr/>
            </a:pPr>
            <a:r>
              <a:rPr lang="en-US" sz="1100" b="1">
                <a:solidFill>
                  <a:srgbClr val="7ba7ff"/>
                </a:solidFill>
                <a:latin typeface="Consolas"/>
                <a:ea typeface="Consolas"/>
                <a:cs typeface="Consolas"/>
              </a:rPr>
              <a:t>PlayerMove()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530352" y="373075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lvl="0">
              <a:lnSpc>
                <a:spcPct val="140000"/>
              </a:lnSpc>
              <a:defRPr/>
            </a:pPr>
            <a:r>
              <a:rPr lang="en-US" sz="95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isMoving / isRunning / isCrouching</a:t>
            </a:r>
            <a:endParaRPr lang="en-US" sz="950">
              <a:solidFill>
                <a:srgbClr val="b0b8c8"/>
              </a:solidFill>
              <a:latin typeface="Calibri"/>
              <a:ea typeface="Calibri"/>
              <a:cs typeface="Calibri"/>
            </a:endParaRPr>
          </a:p>
          <a:p>
            <a:pPr lvl="0">
              <a:lnSpc>
                <a:spcPct val="140000"/>
              </a:lnSpc>
              <a:defRPr/>
            </a:pPr>
            <a:r>
              <a:rPr lang="ko-KR" altLang="en-US" sz="950">
                <a:solidFill>
                  <a:srgbClr val="b0b8c8"/>
                </a:solidFill>
                <a:latin typeface="Calibri"/>
                <a:cs typeface="Calibri"/>
              </a:rPr>
              <a:t>조합에 따라 </a:t>
            </a:r>
            <a:r>
              <a:rPr lang="en-US" altLang="ko-KR" sz="950">
                <a:solidFill>
                  <a:srgbClr val="b0b8c8"/>
                </a:solidFill>
                <a:latin typeface="Calibri"/>
                <a:cs typeface="Calibri"/>
              </a:rPr>
              <a:t>noiseRadius </a:t>
            </a:r>
            <a:r>
              <a:rPr lang="ko-KR" altLang="en-US" sz="950">
                <a:solidFill>
                  <a:srgbClr val="b0b8c8"/>
                </a:solidFill>
                <a:latin typeface="Calibri"/>
                <a:cs typeface="Calibri"/>
              </a:rPr>
              <a:t>값 설정</a:t>
            </a:r>
            <a:endParaRPr lang="en-US" sz="950"/>
          </a:p>
        </p:txBody>
      </p:sp>
      <p:sp>
        <p:nvSpPr>
          <p:cNvPr id="20" name="Shape 18"/>
          <p:cNvSpPr/>
          <p:nvPr/>
        </p:nvSpPr>
        <p:spPr>
          <a:xfrm>
            <a:off x="2926080" y="3383280"/>
            <a:ext cx="2011680" cy="728016"/>
          </a:xfrm>
          <a:prstGeom prst="rect">
            <a:avLst/>
          </a:prstGeom>
          <a:solidFill>
            <a:srgbClr val="2d3140"/>
          </a:solidFill>
          <a:ln w="10160">
            <a:solidFill>
              <a:srgbClr val="5b8def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2999232" y="343814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1100" b="1">
                <a:solidFill>
                  <a:srgbClr val="7ba7ff"/>
                </a:solidFill>
                <a:latin typeface="Consolas"/>
                <a:ea typeface="Consolas"/>
                <a:cs typeface="Consolas"/>
              </a:rPr>
              <a:t>State (enum)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3004081" y="3681528"/>
            <a:ext cx="1920240" cy="409343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lvl="0">
              <a:lnSpc>
                <a:spcPct val="140000"/>
              </a:lnSpc>
              <a:defRPr/>
            </a:pPr>
            <a:r>
              <a:rPr lang="en-US" sz="95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Idle / ChasePlayer</a:t>
            </a:r>
            <a:endParaRPr lang="en-US" sz="950">
              <a:solidFill>
                <a:srgbClr val="b0b8c8"/>
              </a:solidFill>
              <a:latin typeface="Calibri"/>
              <a:ea typeface="Calibri"/>
              <a:cs typeface="Calibri"/>
            </a:endParaRPr>
          </a:p>
          <a:p>
            <a:pPr lvl="0">
              <a:lnSpc>
                <a:spcPct val="140000"/>
              </a:lnSpc>
              <a:defRPr/>
            </a:pPr>
            <a:r>
              <a:rPr lang="en-US" sz="95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Wander / Blocked</a:t>
            </a:r>
            <a:endParaRPr lang="en-US" sz="950"/>
          </a:p>
        </p:txBody>
      </p:sp>
      <p:sp>
        <p:nvSpPr>
          <p:cNvPr id="23" name="Shape 21"/>
          <p:cNvSpPr/>
          <p:nvPr/>
        </p:nvSpPr>
        <p:spPr>
          <a:xfrm>
            <a:off x="5394960" y="3383280"/>
            <a:ext cx="2011680" cy="728016"/>
          </a:xfrm>
          <a:prstGeom prst="rect">
            <a:avLst/>
          </a:prstGeom>
          <a:solidFill>
            <a:srgbClr val="2d3140"/>
          </a:solidFill>
          <a:ln w="10160">
            <a:solidFill>
              <a:srgbClr val="5b8def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468112" y="343814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lvl="0">
              <a:defRPr/>
            </a:pPr>
            <a:r>
              <a:rPr lang="en-US" sz="1100" b="1">
                <a:solidFill>
                  <a:srgbClr val="7ba7ff"/>
                </a:solidFill>
                <a:latin typeface="Consolas"/>
                <a:ea typeface="Consolas"/>
                <a:cs typeface="Consolas"/>
              </a:rPr>
              <a:t>GameState (enum)</a:t>
            </a:r>
            <a:endParaRPr lang="en-US" sz="1100"/>
          </a:p>
        </p:txBody>
      </p:sp>
      <p:sp>
        <p:nvSpPr>
          <p:cNvPr id="25" name="Text 23"/>
          <p:cNvSpPr/>
          <p:nvPr/>
        </p:nvSpPr>
        <p:spPr>
          <a:xfrm>
            <a:off x="5468112" y="3681529"/>
            <a:ext cx="1920240" cy="409343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lvl="0">
              <a:lnSpc>
                <a:spcPct val="140000"/>
              </a:lnSpc>
              <a:defRPr/>
            </a:pPr>
            <a:r>
              <a:rPr lang="en-US" altLang="ko-KR" sz="95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Playing / Dead / Cleared </a:t>
            </a:r>
            <a:endParaRPr lang="en-US" altLang="ko-KR" sz="950"/>
          </a:p>
        </p:txBody>
      </p:sp>
      <p:sp>
        <p:nvSpPr>
          <p:cNvPr id="26" name="Shape 24"/>
          <p:cNvSpPr/>
          <p:nvPr/>
        </p:nvSpPr>
        <p:spPr>
          <a:xfrm>
            <a:off x="1463040" y="1965960"/>
            <a:ext cx="0" cy="365760"/>
          </a:xfrm>
          <a:prstGeom prst="line">
            <a:avLst/>
          </a:prstGeom>
          <a:noFill/>
          <a:ln w="12700">
            <a:solidFill>
              <a:srgbClr val="7a8394"/>
            </a:solidFill>
            <a:prstDash val="sysDash"/>
          </a:ln>
        </p:spPr>
        <p:txBody>
          <a:bodyPr wrap="square"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1463040" y="1965960"/>
            <a:ext cx="2468880" cy="365760"/>
          </a:xfrm>
          <a:prstGeom prst="line">
            <a:avLst/>
          </a:prstGeom>
          <a:noFill/>
          <a:ln w="12700">
            <a:solidFill>
              <a:srgbClr val="7a8394"/>
            </a:solidFill>
            <a:prstDash val="sysDash"/>
          </a:ln>
        </p:spPr>
        <p:txBody>
          <a:bodyPr wrap="square"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1463040" y="1965960"/>
            <a:ext cx="4937760" cy="365760"/>
          </a:xfrm>
          <a:prstGeom prst="line">
            <a:avLst/>
          </a:prstGeom>
          <a:noFill/>
          <a:ln w="12700">
            <a:solidFill>
              <a:srgbClr val="7a8394"/>
            </a:solidFill>
            <a:prstDash val="sysDash"/>
          </a:ln>
        </p:spPr>
        <p:txBody>
          <a:bodyPr wrap="square"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1463040" y="3017520"/>
            <a:ext cx="0" cy="365760"/>
          </a:xfrm>
          <a:prstGeom prst="line">
            <a:avLst/>
          </a:prstGeom>
          <a:noFill/>
          <a:ln w="12700">
            <a:solidFill>
              <a:srgbClr val="7a8394"/>
            </a:solidFill>
            <a:prstDash val="sysDash"/>
          </a:ln>
        </p:spPr>
        <p:txBody>
          <a:bodyPr wrap="square"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3931920" y="3017520"/>
            <a:ext cx="0" cy="365760"/>
          </a:xfrm>
          <a:prstGeom prst="line">
            <a:avLst/>
          </a:prstGeom>
          <a:noFill/>
          <a:ln w="12700">
            <a:solidFill>
              <a:srgbClr val="7a8394"/>
            </a:solidFill>
            <a:prstDash val="sysDash"/>
          </a:ln>
        </p:spPr>
        <p:txBody>
          <a:bodyPr wrap="square"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6400800" y="3017520"/>
            <a:ext cx="0" cy="365760"/>
          </a:xfrm>
          <a:prstGeom prst="line">
            <a:avLst/>
          </a:prstGeom>
          <a:noFill/>
          <a:ln w="12700">
            <a:solidFill>
              <a:srgbClr val="7a8394"/>
            </a:solidFill>
            <a:prstDash val="sysDash"/>
          </a:ln>
        </p:spPr>
        <p:txBody>
          <a:bodyPr wrap="square"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7543800" y="1417320"/>
            <a:ext cx="1280160" cy="1993393"/>
          </a:xfrm>
          <a:prstGeom prst="rect">
            <a:avLst/>
          </a:prstGeom>
          <a:solidFill>
            <a:srgbClr val="23262e"/>
          </a:solidFill>
          <a:ln w="6350">
            <a:solidFill>
              <a:srgbClr val="7a8394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7635240" y="15087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900" b="1">
                <a:solidFill>
                  <a:srgbClr val="b0b8c8"/>
                </a:solidFill>
                <a:latin typeface="Consolas"/>
                <a:ea typeface="Consolas"/>
                <a:cs typeface="Consolas"/>
              </a:rPr>
              <a:t>범례</a:t>
            </a:r>
            <a:endParaRPr lang="en-US" sz="900"/>
          </a:p>
        </p:txBody>
      </p:sp>
      <p:sp>
        <p:nvSpPr>
          <p:cNvPr id="34" name="Shape 32"/>
          <p:cNvSpPr/>
          <p:nvPr/>
        </p:nvSpPr>
        <p:spPr>
          <a:xfrm>
            <a:off x="7635240" y="1828800"/>
            <a:ext cx="201168" cy="201168"/>
          </a:xfrm>
          <a:prstGeom prst="rect">
            <a:avLst/>
          </a:prstGeom>
          <a:solidFill>
            <a:srgbClr val="23262e"/>
          </a:solidFill>
          <a:ln w="6350">
            <a:solidFill>
              <a:srgbClr val="5b8def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7882128" y="18470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90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Unity Base</a:t>
            </a:r>
            <a:endParaRPr lang="en-US" sz="900"/>
          </a:p>
        </p:txBody>
      </p:sp>
      <p:sp>
        <p:nvSpPr>
          <p:cNvPr id="36" name="Shape 34"/>
          <p:cNvSpPr/>
          <p:nvPr/>
        </p:nvSpPr>
        <p:spPr>
          <a:xfrm>
            <a:off x="7635240" y="2377440"/>
            <a:ext cx="201168" cy="201168"/>
          </a:xfrm>
          <a:prstGeom prst="rect">
            <a:avLst/>
          </a:prstGeom>
          <a:solidFill>
            <a:srgbClr val="2a2d35"/>
          </a:solidFill>
          <a:ln w="6350">
            <a:solidFill>
              <a:srgbClr val="5b8def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7882128" y="23957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90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Core Class</a:t>
            </a:r>
            <a:endParaRPr lang="en-US" sz="900"/>
          </a:p>
        </p:txBody>
      </p:sp>
      <p:sp>
        <p:nvSpPr>
          <p:cNvPr id="38" name="Shape 36"/>
          <p:cNvSpPr/>
          <p:nvPr/>
        </p:nvSpPr>
        <p:spPr>
          <a:xfrm>
            <a:off x="7635240" y="2926080"/>
            <a:ext cx="201168" cy="201168"/>
          </a:xfrm>
          <a:prstGeom prst="rect">
            <a:avLst/>
          </a:prstGeom>
          <a:solidFill>
            <a:srgbClr val="2d3140"/>
          </a:solidFill>
          <a:ln w="6350">
            <a:solidFill>
              <a:srgbClr val="5b8def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7882128" y="294436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90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Sub Module</a:t>
            </a:r>
            <a:endParaRPr lang="en-US" sz="900"/>
          </a:p>
        </p:txBody>
      </p:sp>
      <p:sp>
        <p:nvSpPr>
          <p:cNvPr id="40" name="Text 38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800" kern="0" spc="200">
                <a:solidFill>
                  <a:srgbClr val="7a8394"/>
                </a:solidFill>
                <a:latin typeface="Consolas"/>
                <a:ea typeface="Consolas"/>
                <a:cs typeface="Consolas"/>
              </a:rPr>
              <a:t>DEADLINE  ·  Game Dev Presentation</a:t>
            </a:r>
            <a:endParaRPr lang="en-US" sz="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8">
    <p:bg>
      <p:bgPr shadeToTitle="0">
        <a:solidFill>
          <a:srgbClr val="1e20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900" b="1" kern="0" spc="300">
                <a:solidFill>
                  <a:srgbClr val="5b8def"/>
                </a:solidFill>
                <a:latin typeface="Consolas"/>
                <a:ea typeface="Consolas"/>
                <a:cs typeface="Consolas"/>
              </a:rPr>
              <a:t>// 04. TECH — CHALLENGES</a:t>
            </a:r>
            <a:endParaRPr lang="en-US" sz="900"/>
          </a:p>
        </p:txBody>
      </p:sp>
      <p:sp>
        <p:nvSpPr>
          <p:cNvPr id="3" name="Shape 1"/>
          <p:cNvSpPr/>
          <p:nvPr/>
        </p:nvSpPr>
        <p:spPr>
          <a:xfrm>
            <a:off x="2514600" y="384048"/>
            <a:ext cx="365760" cy="0"/>
          </a:xfrm>
          <a:prstGeom prst="line">
            <a:avLst/>
          </a:prstGeom>
          <a:noFill/>
          <a:ln w="12700">
            <a:solidFill>
              <a:srgbClr val="5b8def"/>
            </a:solidFill>
            <a:prstDash val="solid"/>
          </a:ln>
        </p:spPr>
        <p:txBody>
          <a:bodyPr wrap="square"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3200" b="1" kern="0" spc="300">
                <a:solidFill>
                  <a:srgbClr val="f2f4f8"/>
                </a:solidFill>
                <a:latin typeface="Impact"/>
                <a:ea typeface="Impact"/>
                <a:cs typeface="Impact"/>
              </a:rPr>
              <a:t>기술적 어려움과 해결 방법</a:t>
            </a:r>
            <a:endParaRPr lang="en-US" sz="3200" b="1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0"/>
          </a:xfrm>
          <a:prstGeom prst="line">
            <a:avLst/>
          </a:prstGeom>
          <a:noFill/>
          <a:ln w="12700">
            <a:solidFill>
              <a:srgbClr val="5b8def"/>
            </a:solidFill>
            <a:prstDash val="solid"/>
          </a:ln>
        </p:spPr>
        <p:txBody>
          <a:bodyPr wrap="square"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914400" cy="1005840"/>
          </a:xfrm>
          <a:prstGeom prst="rect">
            <a:avLst/>
          </a:prstGeom>
          <a:solidFill>
            <a:srgbClr val="5b8def"/>
          </a:solidFill>
          <a:ln w="6350">
            <a:solidFill>
              <a:srgbClr val="7ba7ff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400" kern="0" spc="200">
                <a:solidFill>
                  <a:srgbClr val="f2f4f8"/>
                </a:solidFill>
                <a:latin typeface="Impact"/>
                <a:ea typeface="Impact"/>
                <a:cs typeface="Impact"/>
              </a:rPr>
              <a:t>BUG</a:t>
            </a:r>
            <a:endParaRPr lang="en-US" sz="1400" kern="0" spc="200">
              <a:solidFill>
                <a:srgbClr val="f2f4f8"/>
              </a:solidFill>
              <a:latin typeface="Impact"/>
              <a:ea typeface="Impact"/>
              <a:cs typeface="Impact"/>
            </a:endParaRPr>
          </a:p>
          <a:p>
            <a:pPr marL="0" lvl="0" indent="0" algn="ctr">
              <a:buNone/>
              <a:defRPr/>
            </a:pPr>
            <a:r>
              <a:rPr lang="en-US" sz="1400" kern="0" spc="200">
                <a:solidFill>
                  <a:srgbClr val="f2f4f8"/>
                </a:solidFill>
                <a:latin typeface="Impact"/>
                <a:ea typeface="Impact"/>
                <a:cs typeface="Impact"/>
              </a:rPr>
              <a:t>1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1508760" y="1417320"/>
            <a:ext cx="3200400" cy="1005840"/>
          </a:xfrm>
          <a:prstGeom prst="rect">
            <a:avLst/>
          </a:prstGeom>
          <a:solidFill>
            <a:srgbClr val="2a2d35"/>
          </a:solidFill>
          <a:ln w="6350">
            <a:solidFill>
              <a:srgbClr val="5b8def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508760" y="1417320"/>
            <a:ext cx="54864" cy="1005840"/>
          </a:xfrm>
          <a:prstGeom prst="rect">
            <a:avLst/>
          </a:prstGeom>
          <a:solidFill>
            <a:srgbClr val="7ba7ff"/>
          </a:solidFill>
          <a:ln/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691640" y="14721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900" b="1" kern="0" spc="200">
                <a:solidFill>
                  <a:srgbClr val="5b8def"/>
                </a:solidFill>
                <a:latin typeface="Consolas"/>
                <a:ea typeface="Consolas"/>
                <a:cs typeface="Consolas"/>
              </a:rPr>
              <a:t>문제</a:t>
            </a:r>
            <a:endParaRPr lang="en-US" sz="900"/>
          </a:p>
        </p:txBody>
      </p:sp>
      <p:sp>
        <p:nvSpPr>
          <p:cNvPr id="11" name="Text 9"/>
          <p:cNvSpPr/>
          <p:nvPr/>
        </p:nvSpPr>
        <p:spPr>
          <a:xfrm>
            <a:off x="1691640" y="169164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200">
                <a:solidFill>
                  <a:srgbClr val="f2f4f8"/>
                </a:solidFill>
                <a:latin typeface="Calibri"/>
                <a:ea typeface="Calibri"/>
                <a:cs typeface="Calibri"/>
              </a:rPr>
              <a:t>같은 State 재진입 시 로직 중복 실행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1691640" y="19842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State 변경 시 이전 State와 동일해도 코루틴 재시작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480060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800">
                <a:solidFill>
                  <a:srgbClr val="5b8def"/>
                </a:solidFill>
                <a:latin typeface="Calibri"/>
                <a:ea typeface="Calibri"/>
                <a:cs typeface="Calibri"/>
              </a:rPr>
              <a:t>→</a:t>
            </a:r>
            <a:endParaRPr lang="en-US" sz="1800"/>
          </a:p>
        </p:txBody>
      </p:sp>
      <p:sp>
        <p:nvSpPr>
          <p:cNvPr id="14" name="Shape 12"/>
          <p:cNvSpPr/>
          <p:nvPr/>
        </p:nvSpPr>
        <p:spPr>
          <a:xfrm>
            <a:off x="5212080" y="1417320"/>
            <a:ext cx="3474720" cy="1005840"/>
          </a:xfrm>
          <a:prstGeom prst="rect">
            <a:avLst/>
          </a:prstGeom>
          <a:solidFill>
            <a:srgbClr val="2a2d35"/>
          </a:solidFill>
          <a:ln w="6350">
            <a:solidFill>
              <a:srgbClr val="5b8def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5212080" y="1417320"/>
            <a:ext cx="54864" cy="1005840"/>
          </a:xfrm>
          <a:prstGeom prst="rect">
            <a:avLst/>
          </a:prstGeom>
          <a:solidFill>
            <a:srgbClr val="3dd68c"/>
          </a:solidFill>
          <a:ln/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394960" y="14721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900" b="1" kern="0" spc="200">
                <a:solidFill>
                  <a:srgbClr val="3dd68c"/>
                </a:solidFill>
                <a:latin typeface="Consolas"/>
                <a:ea typeface="Consolas"/>
                <a:cs typeface="Consolas"/>
              </a:rPr>
              <a:t>해결</a:t>
            </a:r>
            <a:endParaRPr lang="en-US" sz="900"/>
          </a:p>
        </p:txBody>
      </p:sp>
      <p:sp>
        <p:nvSpPr>
          <p:cNvPr id="17" name="Text 15"/>
          <p:cNvSpPr/>
          <p:nvPr/>
        </p:nvSpPr>
        <p:spPr>
          <a:xfrm>
            <a:off x="5394960" y="169164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lnSpc>
                <a:spcPct val="150000"/>
              </a:lnSpc>
              <a:buNone/>
              <a:defRPr/>
            </a:pPr>
            <a:r>
              <a:rPr lang="en-US" sz="1200">
                <a:solidFill>
                  <a:srgbClr val="f2f4f8"/>
                </a:solidFill>
                <a:latin typeface="Calibri"/>
                <a:ea typeface="Calibri"/>
                <a:cs typeface="Calibri"/>
              </a:rPr>
              <a:t>State 변경 함수에 </a:t>
            </a:r>
            <a:endParaRPr lang="en-US" sz="1200">
              <a:solidFill>
                <a:srgbClr val="f2f4f8"/>
              </a:solidFill>
              <a:latin typeface="Calibri"/>
              <a:ea typeface="Calibri"/>
              <a:cs typeface="Calibri"/>
            </a:endParaRPr>
          </a:p>
          <a:p>
            <a:pPr marL="0" lvl="0" indent="0">
              <a:lnSpc>
                <a:spcPct val="150000"/>
              </a:lnSpc>
              <a:buNone/>
              <a:defRPr/>
            </a:pPr>
            <a:r>
              <a:rPr lang="en-US" sz="1200">
                <a:solidFill>
                  <a:srgbClr val="f2f4f8"/>
                </a:solidFill>
                <a:latin typeface="Calibri"/>
                <a:ea typeface="Calibri"/>
                <a:cs typeface="Calibri"/>
              </a:rPr>
              <a:t>if (state == newState) return; 가드 추가</a:t>
            </a:r>
            <a:endParaRPr lang="en-US" sz="1200"/>
          </a:p>
        </p:txBody>
      </p:sp>
      <p:sp>
        <p:nvSpPr>
          <p:cNvPr id="18" name="Shape 16"/>
          <p:cNvSpPr/>
          <p:nvPr/>
        </p:nvSpPr>
        <p:spPr>
          <a:xfrm>
            <a:off x="457200" y="2587752"/>
            <a:ext cx="914400" cy="1005840"/>
          </a:xfrm>
          <a:prstGeom prst="rect">
            <a:avLst/>
          </a:prstGeom>
          <a:solidFill>
            <a:srgbClr val="5b8def"/>
          </a:solidFill>
          <a:ln w="6350">
            <a:solidFill>
              <a:srgbClr val="7ba7ff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57200" y="277063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400" kern="0" spc="200">
                <a:solidFill>
                  <a:srgbClr val="f2f4f8"/>
                </a:solidFill>
                <a:latin typeface="Impact"/>
                <a:ea typeface="Impact"/>
                <a:cs typeface="Impact"/>
              </a:rPr>
              <a:t>BUG</a:t>
            </a:r>
            <a:endParaRPr lang="en-US" sz="1400" kern="0" spc="200">
              <a:solidFill>
                <a:srgbClr val="f2f4f8"/>
              </a:solidFill>
              <a:latin typeface="Impact"/>
              <a:ea typeface="Impact"/>
              <a:cs typeface="Impact"/>
            </a:endParaRPr>
          </a:p>
          <a:p>
            <a:pPr marL="0" lvl="0" indent="0" algn="ctr">
              <a:buNone/>
              <a:defRPr/>
            </a:pPr>
            <a:r>
              <a:rPr lang="en-US" sz="1400" kern="0" spc="200">
                <a:solidFill>
                  <a:srgbClr val="f2f4f8"/>
                </a:solidFill>
                <a:latin typeface="Impact"/>
                <a:ea typeface="Impact"/>
                <a:cs typeface="Impact"/>
              </a:rPr>
              <a:t>2</a:t>
            </a:r>
            <a:endParaRPr lang="en-US" sz="1400"/>
          </a:p>
        </p:txBody>
      </p:sp>
      <p:sp>
        <p:nvSpPr>
          <p:cNvPr id="20" name="Shape 18"/>
          <p:cNvSpPr/>
          <p:nvPr/>
        </p:nvSpPr>
        <p:spPr>
          <a:xfrm>
            <a:off x="1508760" y="2587752"/>
            <a:ext cx="3200400" cy="1005840"/>
          </a:xfrm>
          <a:prstGeom prst="rect">
            <a:avLst/>
          </a:prstGeom>
          <a:solidFill>
            <a:srgbClr val="2a2d35"/>
          </a:solidFill>
          <a:ln w="6350">
            <a:solidFill>
              <a:srgbClr val="5b8def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508760" y="2587752"/>
            <a:ext cx="54864" cy="1005840"/>
          </a:xfrm>
          <a:prstGeom prst="rect">
            <a:avLst/>
          </a:prstGeom>
          <a:solidFill>
            <a:srgbClr val="7ba7ff"/>
          </a:solidFill>
          <a:ln/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691640" y="26426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900" b="1" kern="0" spc="200">
                <a:solidFill>
                  <a:srgbClr val="5b8def"/>
                </a:solidFill>
                <a:latin typeface="Consolas"/>
                <a:ea typeface="Consolas"/>
                <a:cs typeface="Consolas"/>
              </a:rPr>
              <a:t>문제</a:t>
            </a:r>
            <a:endParaRPr lang="en-US" sz="900"/>
          </a:p>
        </p:txBody>
      </p:sp>
      <p:sp>
        <p:nvSpPr>
          <p:cNvPr id="23" name="Text 21"/>
          <p:cNvSpPr/>
          <p:nvPr/>
        </p:nvSpPr>
        <p:spPr>
          <a:xfrm>
            <a:off x="1691640" y="286207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lvl="0">
              <a:defRPr/>
            </a:pPr>
            <a:r>
              <a:rPr lang="en-US" altLang="ko-KR" sz="1200">
                <a:solidFill>
                  <a:srgbClr val="f2f4f8"/>
                </a:solidFill>
                <a:latin typeface="Calibri"/>
                <a:ea typeface="Calibri"/>
                <a:cs typeface="Calibri"/>
              </a:rPr>
              <a:t>1</a:t>
            </a:r>
            <a:r>
              <a:rPr lang="ko-KR" altLang="en-US" sz="1200">
                <a:solidFill>
                  <a:srgbClr val="f2f4f8"/>
                </a:solidFill>
                <a:latin typeface="Calibri"/>
                <a:ea typeface="Calibri"/>
                <a:cs typeface="Calibri"/>
              </a:rPr>
              <a:t>인칭 시점 본인 모델링 시야 간섭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1691640" y="3154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lvl="0">
              <a:defRPr/>
            </a:pPr>
            <a:r>
              <a:rPr lang="ko-KR" altLang="en-US" sz="100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카메라를 캐릭터 눈 위치에 배치 시</a:t>
            </a:r>
            <a:r>
              <a:rPr lang="en-US" altLang="ko-KR" sz="100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ko-KR" altLang="en-US" sz="100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본인의 머리 메쉬</a:t>
            </a:r>
            <a:r>
              <a:rPr lang="en-US" altLang="ko-KR" sz="100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(Head Mesh)</a:t>
            </a:r>
            <a:r>
              <a:rPr lang="ko-KR" altLang="en-US" sz="100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가 화면 전체를 가리는 현상 발생</a:t>
            </a:r>
            <a:r>
              <a:rPr lang="en-US" altLang="ko-KR" sz="100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000"/>
          </a:p>
        </p:txBody>
      </p:sp>
      <p:sp>
        <p:nvSpPr>
          <p:cNvPr id="25" name="Text 23"/>
          <p:cNvSpPr/>
          <p:nvPr/>
        </p:nvSpPr>
        <p:spPr>
          <a:xfrm>
            <a:off x="4800600" y="2907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800">
                <a:solidFill>
                  <a:srgbClr val="5b8def"/>
                </a:solidFill>
                <a:latin typeface="Calibri"/>
                <a:ea typeface="Calibri"/>
                <a:cs typeface="Calibri"/>
              </a:rPr>
              <a:t>→</a:t>
            </a:r>
            <a:endParaRPr lang="en-US" sz="1800"/>
          </a:p>
        </p:txBody>
      </p:sp>
      <p:sp>
        <p:nvSpPr>
          <p:cNvPr id="26" name="Shape 24"/>
          <p:cNvSpPr/>
          <p:nvPr/>
        </p:nvSpPr>
        <p:spPr>
          <a:xfrm>
            <a:off x="5212080" y="2587752"/>
            <a:ext cx="3474720" cy="1005840"/>
          </a:xfrm>
          <a:prstGeom prst="rect">
            <a:avLst/>
          </a:prstGeom>
          <a:solidFill>
            <a:srgbClr val="2a2d35"/>
          </a:solidFill>
          <a:ln w="6350">
            <a:solidFill>
              <a:srgbClr val="5b8def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5212080" y="2587752"/>
            <a:ext cx="54864" cy="1005840"/>
          </a:xfrm>
          <a:prstGeom prst="rect">
            <a:avLst/>
          </a:prstGeom>
          <a:solidFill>
            <a:srgbClr val="3dd68c"/>
          </a:solidFill>
          <a:ln/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5394960" y="26426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900" b="1" kern="0" spc="200">
                <a:solidFill>
                  <a:srgbClr val="3dd68c"/>
                </a:solidFill>
                <a:latin typeface="Consolas"/>
                <a:ea typeface="Consolas"/>
                <a:cs typeface="Consolas"/>
              </a:rPr>
              <a:t>해결</a:t>
            </a:r>
            <a:endParaRPr lang="en-US" sz="900"/>
          </a:p>
        </p:txBody>
      </p:sp>
      <p:sp>
        <p:nvSpPr>
          <p:cNvPr id="29" name="Text 27"/>
          <p:cNvSpPr/>
          <p:nvPr/>
        </p:nvSpPr>
        <p:spPr>
          <a:xfrm>
            <a:off x="5394960" y="286207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lnSpc>
                <a:spcPct val="150000"/>
              </a:lnSpc>
              <a:buNone/>
              <a:defRPr/>
            </a:pPr>
            <a:r>
              <a:rPr lang="ko-KR" altLang="en-US" sz="1200">
                <a:solidFill>
                  <a:srgbClr val="f2f4f8"/>
                </a:solidFill>
                <a:latin typeface="Calibri"/>
                <a:ea typeface="Calibri"/>
                <a:cs typeface="Calibri"/>
              </a:rPr>
              <a:t>캐릭터의 스켈레톤 구조 중 </a:t>
            </a:r>
            <a:r>
              <a:rPr lang="en-US" altLang="ko-KR" sz="1200">
                <a:solidFill>
                  <a:srgbClr val="f2f4f8"/>
                </a:solidFill>
                <a:latin typeface="Calibri"/>
                <a:ea typeface="Calibri"/>
                <a:cs typeface="Calibri"/>
              </a:rPr>
              <a:t>Neck</a:t>
            </a:r>
            <a:r>
              <a:rPr lang="ko-KR" altLang="en-US" sz="1200">
                <a:solidFill>
                  <a:srgbClr val="f2f4f8"/>
                </a:solidFill>
                <a:latin typeface="Calibri"/>
                <a:ea typeface="Calibri"/>
                <a:cs typeface="Calibri"/>
              </a:rPr>
              <a:t>을 특정하여 런타임에 크기만 제거</a:t>
            </a:r>
            <a:endParaRPr lang="en-US" sz="1200"/>
          </a:p>
        </p:txBody>
      </p:sp>
      <p:sp>
        <p:nvSpPr>
          <p:cNvPr id="30" name="Shape 28"/>
          <p:cNvSpPr/>
          <p:nvPr/>
        </p:nvSpPr>
        <p:spPr>
          <a:xfrm>
            <a:off x="457200" y="3758184"/>
            <a:ext cx="914400" cy="1005840"/>
          </a:xfrm>
          <a:prstGeom prst="rect">
            <a:avLst/>
          </a:prstGeom>
          <a:solidFill>
            <a:srgbClr val="5b8def"/>
          </a:solidFill>
          <a:ln w="6350">
            <a:solidFill>
              <a:srgbClr val="7ba7ff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457200" y="394106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400" kern="0" spc="200">
                <a:solidFill>
                  <a:srgbClr val="f2f4f8"/>
                </a:solidFill>
                <a:latin typeface="Impact"/>
                <a:ea typeface="Impact"/>
                <a:cs typeface="Impact"/>
              </a:rPr>
              <a:t>BUG</a:t>
            </a:r>
            <a:endParaRPr lang="en-US" sz="1400" kern="0" spc="200">
              <a:solidFill>
                <a:srgbClr val="f2f4f8"/>
              </a:solidFill>
              <a:latin typeface="Impact"/>
              <a:ea typeface="Impact"/>
              <a:cs typeface="Impact"/>
            </a:endParaRPr>
          </a:p>
          <a:p>
            <a:pPr marL="0" lvl="0" indent="0" algn="ctr">
              <a:buNone/>
              <a:defRPr/>
            </a:pPr>
            <a:r>
              <a:rPr lang="en-US" sz="1400" kern="0" spc="200">
                <a:solidFill>
                  <a:srgbClr val="f2f4f8"/>
                </a:solidFill>
                <a:latin typeface="Impact"/>
                <a:ea typeface="Impact"/>
                <a:cs typeface="Impact"/>
              </a:rPr>
              <a:t>3</a:t>
            </a:r>
            <a:endParaRPr lang="en-US" sz="1400"/>
          </a:p>
        </p:txBody>
      </p:sp>
      <p:sp>
        <p:nvSpPr>
          <p:cNvPr id="32" name="Shape 30"/>
          <p:cNvSpPr/>
          <p:nvPr/>
        </p:nvSpPr>
        <p:spPr>
          <a:xfrm>
            <a:off x="1508760" y="3758184"/>
            <a:ext cx="3200400" cy="1005840"/>
          </a:xfrm>
          <a:prstGeom prst="rect">
            <a:avLst/>
          </a:prstGeom>
          <a:solidFill>
            <a:srgbClr val="2a2d35"/>
          </a:solidFill>
          <a:ln w="6350">
            <a:solidFill>
              <a:srgbClr val="5b8def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1508760" y="3758184"/>
            <a:ext cx="54864" cy="1005840"/>
          </a:xfrm>
          <a:prstGeom prst="rect">
            <a:avLst/>
          </a:prstGeom>
          <a:solidFill>
            <a:srgbClr val="7ba7ff"/>
          </a:solidFill>
          <a:ln/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1691640" y="38130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900" b="1" kern="0" spc="200">
                <a:solidFill>
                  <a:srgbClr val="5b8def"/>
                </a:solidFill>
                <a:latin typeface="Consolas"/>
                <a:ea typeface="Consolas"/>
                <a:cs typeface="Consolas"/>
              </a:rPr>
              <a:t>문제</a:t>
            </a:r>
            <a:endParaRPr lang="en-US" sz="900"/>
          </a:p>
        </p:txBody>
      </p:sp>
      <p:sp>
        <p:nvSpPr>
          <p:cNvPr id="35" name="Text 33"/>
          <p:cNvSpPr/>
          <p:nvPr/>
        </p:nvSpPr>
        <p:spPr>
          <a:xfrm>
            <a:off x="1691640" y="403250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ko-KR" altLang="en-US" sz="1200">
                <a:solidFill>
                  <a:srgbClr val="f2f4f8"/>
                </a:solidFill>
                <a:latin typeface="Calibri"/>
                <a:ea typeface="Calibri"/>
                <a:cs typeface="Calibri"/>
              </a:rPr>
              <a:t>아이템 맵 이탈 발생</a:t>
            </a:r>
            <a:endParaRPr lang="en-US" sz="1200"/>
          </a:p>
        </p:txBody>
      </p:sp>
      <p:sp>
        <p:nvSpPr>
          <p:cNvPr id="36" name="Text 34"/>
          <p:cNvSpPr/>
          <p:nvPr/>
        </p:nvSpPr>
        <p:spPr>
          <a:xfrm>
            <a:off x="1691640" y="43251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lvl="0">
              <a:defRPr/>
            </a:pPr>
            <a:r>
              <a:rPr lang="ko-KR" altLang="en-US" sz="100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벽 밀착 및 앉기 상태에서 아이템 투척 시</a:t>
            </a:r>
            <a:r>
              <a:rPr lang="en-US" altLang="ko-KR" sz="100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, </a:t>
            </a:r>
            <a:endParaRPr lang="en-US" altLang="ko-KR" sz="1000">
              <a:solidFill>
                <a:srgbClr val="b0b8c8"/>
              </a:solidFill>
              <a:latin typeface="Calibri"/>
              <a:ea typeface="Calibri"/>
              <a:cs typeface="Calibri"/>
            </a:endParaRPr>
          </a:p>
          <a:p>
            <a:pPr lvl="0">
              <a:defRPr/>
            </a:pPr>
            <a:r>
              <a:rPr lang="ko-KR" altLang="en-US" sz="100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물리 연산 충돌로 아이템이 맵 밖으로 유실됨</a:t>
            </a:r>
            <a:r>
              <a:rPr lang="en-US" altLang="ko-KR" sz="100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000"/>
          </a:p>
        </p:txBody>
      </p:sp>
      <p:sp>
        <p:nvSpPr>
          <p:cNvPr id="37" name="Text 35"/>
          <p:cNvSpPr/>
          <p:nvPr/>
        </p:nvSpPr>
        <p:spPr>
          <a:xfrm>
            <a:off x="4800600" y="4078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800">
                <a:solidFill>
                  <a:srgbClr val="5b8def"/>
                </a:solidFill>
                <a:latin typeface="Calibri"/>
                <a:ea typeface="Calibri"/>
                <a:cs typeface="Calibri"/>
              </a:rPr>
              <a:t>→</a:t>
            </a:r>
            <a:endParaRPr lang="en-US" sz="1800"/>
          </a:p>
        </p:txBody>
      </p:sp>
      <p:sp>
        <p:nvSpPr>
          <p:cNvPr id="38" name="Shape 36"/>
          <p:cNvSpPr/>
          <p:nvPr/>
        </p:nvSpPr>
        <p:spPr>
          <a:xfrm>
            <a:off x="5212080" y="3758184"/>
            <a:ext cx="3474720" cy="1005840"/>
          </a:xfrm>
          <a:prstGeom prst="rect">
            <a:avLst/>
          </a:prstGeom>
          <a:solidFill>
            <a:srgbClr val="2a2d35"/>
          </a:solidFill>
          <a:ln w="6350">
            <a:solidFill>
              <a:srgbClr val="5b8def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5212080" y="3758184"/>
            <a:ext cx="54864" cy="1005840"/>
          </a:xfrm>
          <a:prstGeom prst="rect">
            <a:avLst/>
          </a:prstGeom>
          <a:solidFill>
            <a:srgbClr val="3dd68c"/>
          </a:solidFill>
          <a:ln/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5394960" y="38130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900" b="1" kern="0" spc="200">
                <a:solidFill>
                  <a:srgbClr val="3dd68c"/>
                </a:solidFill>
                <a:latin typeface="Consolas"/>
                <a:ea typeface="Consolas"/>
                <a:cs typeface="Consolas"/>
              </a:rPr>
              <a:t>해결</a:t>
            </a:r>
            <a:endParaRPr lang="en-US" sz="900"/>
          </a:p>
        </p:txBody>
      </p:sp>
      <p:sp>
        <p:nvSpPr>
          <p:cNvPr id="41" name="Text 39"/>
          <p:cNvSpPr/>
          <p:nvPr/>
        </p:nvSpPr>
        <p:spPr>
          <a:xfrm>
            <a:off x="5394960" y="4032504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228600" lvl="0" indent="-228600">
              <a:lnSpc>
                <a:spcPct val="150000"/>
              </a:lnSpc>
              <a:buAutoNum type="arabicPeriod"/>
              <a:defRPr/>
            </a:pPr>
            <a:r>
              <a:rPr lang="en-US" altLang="ko-KR" sz="1200">
                <a:solidFill>
                  <a:srgbClr val="f2f4f8"/>
                </a:solidFill>
                <a:latin typeface="Calibri"/>
                <a:ea typeface="Calibri"/>
                <a:cs typeface="Calibri"/>
              </a:rPr>
              <a:t>Raycast</a:t>
            </a:r>
            <a:r>
              <a:rPr lang="ko-KR" altLang="en-US" sz="1200">
                <a:solidFill>
                  <a:srgbClr val="f2f4f8"/>
                </a:solidFill>
                <a:latin typeface="Calibri"/>
                <a:ea typeface="Calibri"/>
                <a:cs typeface="Calibri"/>
              </a:rPr>
              <a:t>를 활용한 투착 지점 실시간 연산</a:t>
            </a:r>
            <a:endParaRPr lang="ko-KR" altLang="en-US" sz="1200">
              <a:solidFill>
                <a:srgbClr val="f2f4f8"/>
              </a:solidFill>
              <a:latin typeface="Calibri"/>
              <a:ea typeface="Calibri"/>
              <a:cs typeface="Calibri"/>
            </a:endParaRPr>
          </a:p>
          <a:p>
            <a:pPr marL="228600" lvl="0" indent="-228600">
              <a:lnSpc>
                <a:spcPct val="150000"/>
              </a:lnSpc>
              <a:buAutoNum type="arabicPeriod"/>
              <a:defRPr/>
            </a:pPr>
            <a:r>
              <a:rPr lang="ko-KR" altLang="en-US" sz="1200">
                <a:solidFill>
                  <a:srgbClr val="f2f4f8"/>
                </a:solidFill>
                <a:latin typeface="Calibri"/>
                <a:ea typeface="Calibri"/>
                <a:cs typeface="Calibri"/>
              </a:rPr>
              <a:t>검증된 </a:t>
            </a:r>
            <a:r>
              <a:rPr lang="en-US" altLang="ko-KR" sz="1200">
                <a:solidFill>
                  <a:srgbClr val="f2f4f8"/>
                </a:solidFill>
                <a:latin typeface="Calibri"/>
                <a:ea typeface="Calibri"/>
                <a:cs typeface="Calibri"/>
              </a:rPr>
              <a:t>hit.point </a:t>
            </a:r>
            <a:r>
              <a:rPr lang="ko-KR" altLang="en-US" sz="1200">
                <a:solidFill>
                  <a:srgbClr val="f2f4f8"/>
                </a:solidFill>
                <a:latin typeface="Calibri"/>
                <a:ea typeface="Calibri"/>
                <a:cs typeface="Calibri"/>
              </a:rPr>
              <a:t>좌표 기반의 생성로직 적용</a:t>
            </a:r>
            <a:endParaRPr lang="en-US" sz="1200"/>
          </a:p>
        </p:txBody>
      </p:sp>
      <p:sp>
        <p:nvSpPr>
          <p:cNvPr id="42" name="Text 40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800" kern="0" spc="200">
                <a:solidFill>
                  <a:srgbClr val="7a8394"/>
                </a:solidFill>
                <a:latin typeface="Consolas"/>
                <a:ea typeface="Consolas"/>
                <a:cs typeface="Consolas"/>
              </a:rPr>
              <a:t>DEADLINE  ·  Game Dev Presentation</a:t>
            </a:r>
            <a:endParaRPr lang="en-US" sz="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6">
    <p:bg>
      <p:bgPr shadeToTitle="0">
        <a:solidFill>
          <a:srgbClr val="1e20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20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800" kern="0" spc="200">
                <a:solidFill>
                  <a:srgbClr val="7a8394"/>
                </a:solidFill>
                <a:latin typeface="Consolas"/>
                <a:ea typeface="Consolas"/>
                <a:cs typeface="Consolas"/>
              </a:rPr>
              <a:t>DEADLINE  ·  Game Dev Presentation</a:t>
            </a:r>
            <a:endParaRPr lang="en-US" sz="800"/>
          </a:p>
        </p:txBody>
      </p:sp>
      <p:sp>
        <p:nvSpPr>
          <p:cNvPr id="2" name="Text 0"/>
          <p:cNvSpPr/>
          <p:nvPr/>
        </p:nvSpPr>
        <p:spPr>
          <a:xfrm>
            <a:off x="457200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900" b="1" kern="0" spc="300">
                <a:solidFill>
                  <a:srgbClr val="5b8def"/>
                </a:solidFill>
                <a:latin typeface="Consolas"/>
                <a:ea typeface="Consolas"/>
                <a:cs typeface="Consolas"/>
              </a:rPr>
              <a:t>// 0</a:t>
            </a:r>
            <a:r>
              <a:rPr lang="en-US" altLang="ko-KR" sz="900" b="1" kern="0" spc="300">
                <a:solidFill>
                  <a:srgbClr val="5b8def"/>
                </a:solidFill>
                <a:latin typeface="Consolas"/>
                <a:ea typeface="Consolas"/>
                <a:cs typeface="Consolas"/>
              </a:rPr>
              <a:t>4</a:t>
            </a:r>
            <a:r>
              <a:rPr lang="en-US" sz="900" b="1" kern="0" spc="300">
                <a:solidFill>
                  <a:srgbClr val="5b8def"/>
                </a:solidFill>
                <a:latin typeface="Consolas"/>
                <a:ea typeface="Consolas"/>
                <a:cs typeface="Consolas"/>
              </a:rPr>
              <a:t>. </a:t>
            </a:r>
            <a:r>
              <a:rPr lang="en-US" altLang="ko-KR" sz="900" b="1" kern="0" spc="300">
                <a:solidFill>
                  <a:srgbClr val="5b8def"/>
                </a:solidFill>
                <a:latin typeface="Consolas"/>
                <a:ea typeface="Consolas"/>
                <a:cs typeface="Consolas"/>
              </a:rPr>
              <a:t>AI USAGE</a:t>
            </a:r>
            <a:endParaRPr lang="en-US" altLang="ko-KR" sz="900" b="1" kern="0" spc="300">
              <a:solidFill>
                <a:srgbClr val="5b8de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514600" y="384048"/>
            <a:ext cx="365760" cy="0"/>
          </a:xfrm>
          <a:prstGeom prst="line">
            <a:avLst/>
          </a:prstGeom>
          <a:noFill/>
          <a:ln w="12700">
            <a:solidFill>
              <a:srgbClr val="5b8def"/>
            </a:solidFill>
            <a:prstDash val="solid"/>
          </a:ln>
        </p:spPr>
        <p:txBody>
          <a:bodyPr wrap="square"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altLang="ko-KR" sz="3600" kern="0" spc="300">
                <a:solidFill>
                  <a:srgbClr val="f2f4f8"/>
                </a:solidFill>
                <a:latin typeface="Impact"/>
                <a:ea typeface="Impact"/>
                <a:cs typeface="Impact"/>
              </a:rPr>
              <a:t>AI</a:t>
            </a:r>
            <a:r>
              <a:rPr lang="ko-KR" altLang="en-US" sz="3600" kern="0" spc="300">
                <a:solidFill>
                  <a:srgbClr val="f2f4f8"/>
                </a:solidFill>
                <a:latin typeface="Impact"/>
                <a:ea typeface="Impact"/>
                <a:cs typeface="Impact"/>
              </a:rPr>
              <a:t>사용</a:t>
            </a:r>
            <a:endParaRPr lang="ko-KR" altLang="en-US" sz="3600" kern="0" spc="300">
              <a:solidFill>
                <a:srgbClr val="f2f4f8"/>
              </a:solidFill>
              <a:latin typeface="Impact"/>
              <a:ea typeface="Impact"/>
              <a:cs typeface="Impact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0"/>
          </a:xfrm>
          <a:prstGeom prst="line">
            <a:avLst/>
          </a:prstGeom>
          <a:noFill/>
          <a:ln w="12700">
            <a:solidFill>
              <a:srgbClr val="5b8def"/>
            </a:solidFill>
            <a:prstDash val="solid"/>
          </a:ln>
        </p:spPr>
        <p:txBody>
          <a:bodyPr wrap="square"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114800" cy="1308264"/>
          </a:xfrm>
          <a:prstGeom prst="rect">
            <a:avLst/>
          </a:prstGeom>
          <a:solidFill>
            <a:srgbClr val="2a2d35"/>
          </a:solidFill>
          <a:ln w="6350">
            <a:solidFill>
              <a:srgbClr val="5b8def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54864" cy="1308264"/>
          </a:xfrm>
          <a:prstGeom prst="rect">
            <a:avLst/>
          </a:prstGeom>
          <a:solidFill>
            <a:srgbClr val="7ba7ff"/>
          </a:solidFill>
          <a:ln/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080" y="1508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1300" b="1">
                <a:solidFill>
                  <a:srgbClr val="5b8def"/>
                </a:solidFill>
                <a:latin typeface="Consolas"/>
                <a:ea typeface="Consolas"/>
                <a:cs typeface="Consolas"/>
              </a:rPr>
              <a:t>에셋 활용법 학습</a:t>
            </a:r>
            <a:endParaRPr lang="en-US" sz="1300" b="1">
              <a:solidFill>
                <a:srgbClr val="5b8de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1591728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342900" lvl="0" indent="-342900">
              <a:lnSpc>
                <a:spcPct val="155000"/>
              </a:lnSpc>
              <a:buSzPct val="100000"/>
              <a:buChar char="•"/>
              <a:defRPr/>
            </a:pPr>
            <a:r>
              <a:rPr lang="en-US" sz="115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"Dark Horror UI", "DunGen" 등 외부 에셋의 사용법과</a:t>
            </a:r>
            <a:endParaRPr lang="en-US" sz="1150">
              <a:solidFill>
                <a:srgbClr val="b0b8c8"/>
              </a:solidFill>
              <a:latin typeface="Calibri"/>
              <a:ea typeface="Calibri"/>
              <a:cs typeface="Calibri"/>
            </a:endParaRPr>
          </a:p>
          <a:p>
            <a:pPr marL="342900" lvl="0" indent="-342900">
              <a:lnSpc>
                <a:spcPct val="155000"/>
              </a:lnSpc>
              <a:buSzPct val="100000"/>
              <a:buChar char="•"/>
              <a:defRPr/>
            </a:pPr>
            <a:r>
              <a:rPr lang="en-US" sz="115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내 코드 구조에 맞게 통합하는 방법을 질문</a:t>
            </a:r>
            <a:endParaRPr lang="en-US" sz="1150">
              <a:solidFill>
                <a:srgbClr val="b0b8c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892040" y="1417320"/>
            <a:ext cx="4114800" cy="1308264"/>
          </a:xfrm>
          <a:prstGeom prst="rect">
            <a:avLst/>
          </a:prstGeom>
          <a:solidFill>
            <a:srgbClr val="2a2d35"/>
          </a:solidFill>
          <a:ln w="6350">
            <a:solidFill>
              <a:srgbClr val="5b8def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892040" y="1417320"/>
            <a:ext cx="54864" cy="1308264"/>
          </a:xfrm>
          <a:prstGeom prst="rect">
            <a:avLst/>
          </a:prstGeom>
          <a:solidFill>
            <a:srgbClr val="7ba7ff"/>
          </a:solidFill>
          <a:ln/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074920" y="1508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1300" b="1">
                <a:solidFill>
                  <a:srgbClr val="5b8def"/>
                </a:solidFill>
                <a:latin typeface="Consolas"/>
                <a:ea typeface="Consolas"/>
                <a:cs typeface="Consolas"/>
              </a:rPr>
              <a:t>버그 원인 추적</a:t>
            </a:r>
            <a:endParaRPr lang="en-US" sz="1300" b="1">
              <a:solidFill>
                <a:srgbClr val="5b8de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74920" y="1591728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342900" lvl="0" indent="-342900">
              <a:lnSpc>
                <a:spcPct val="155000"/>
              </a:lnSpc>
              <a:buSzPct val="100000"/>
              <a:buChar char="•"/>
              <a:defRPr/>
            </a:pPr>
            <a:r>
              <a:rPr lang="en-US" sz="115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NavMesh isStopped 미초기화, 같은 상태 재진입 문제 </a:t>
            </a:r>
            <a:endParaRPr lang="en-US" sz="1150">
              <a:solidFill>
                <a:srgbClr val="b0b8c8"/>
              </a:solidFill>
              <a:latin typeface="Calibri"/>
              <a:ea typeface="Calibri"/>
              <a:cs typeface="Calibri"/>
            </a:endParaRPr>
          </a:p>
          <a:p>
            <a:pPr marL="342900" lvl="0" indent="-342900">
              <a:lnSpc>
                <a:spcPct val="155000"/>
              </a:lnSpc>
              <a:buSzPct val="100000"/>
              <a:buChar char="•"/>
              <a:defRPr/>
            </a:pPr>
            <a:r>
              <a:rPr lang="en-US" sz="115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재현은 되는데 원인을 모르는 버그의 진단</a:t>
            </a:r>
            <a:endParaRPr lang="en-US" sz="1150">
              <a:solidFill>
                <a:srgbClr val="b0b8c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3163824"/>
            <a:ext cx="4114800" cy="1308264"/>
          </a:xfrm>
          <a:prstGeom prst="rect">
            <a:avLst/>
          </a:prstGeom>
          <a:solidFill>
            <a:srgbClr val="2a2d35"/>
          </a:solidFill>
          <a:ln w="6350">
            <a:solidFill>
              <a:srgbClr val="5b8def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3163824"/>
            <a:ext cx="54864" cy="1308264"/>
          </a:xfrm>
          <a:prstGeom prst="rect">
            <a:avLst/>
          </a:prstGeom>
          <a:solidFill>
            <a:srgbClr val="7a8394"/>
          </a:solidFill>
          <a:ln/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0080" y="3291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1300" b="1">
                <a:solidFill>
                  <a:srgbClr val="5b8def"/>
                </a:solidFill>
                <a:latin typeface="Consolas"/>
                <a:ea typeface="Consolas"/>
                <a:cs typeface="Consolas"/>
              </a:rPr>
              <a:t>모르는 개념 학습</a:t>
            </a:r>
            <a:endParaRPr lang="en-US" sz="1300" b="1">
              <a:solidFill>
                <a:srgbClr val="5b8de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0080" y="3374808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342900" lvl="0" indent="-342900">
              <a:lnSpc>
                <a:spcPct val="155000"/>
              </a:lnSpc>
              <a:buSzPct val="100000"/>
              <a:buChar char="•"/>
              <a:defRPr/>
            </a:pPr>
            <a:r>
              <a:rPr lang="en-US" sz="115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Spatial Blend, Input System 신규 API 등</a:t>
            </a:r>
            <a:endParaRPr lang="en-US" sz="1150">
              <a:solidFill>
                <a:srgbClr val="b0b8c8"/>
              </a:solidFill>
              <a:latin typeface="Calibri"/>
              <a:ea typeface="Calibri"/>
              <a:cs typeface="Calibri"/>
            </a:endParaRPr>
          </a:p>
          <a:p>
            <a:pPr marL="342900" lvl="0" indent="-342900">
              <a:lnSpc>
                <a:spcPct val="155000"/>
              </a:lnSpc>
              <a:buSzPct val="100000"/>
              <a:buChar char="•"/>
              <a:defRPr/>
            </a:pPr>
            <a:r>
              <a:rPr lang="en-US" sz="115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문서를 찾기보다 빠르게 맥락에 맞춰 설명을 받음</a:t>
            </a:r>
            <a:endParaRPr lang="en-US" sz="1150">
              <a:solidFill>
                <a:srgbClr val="b0b8c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892040" y="3163824"/>
            <a:ext cx="4114800" cy="1308264"/>
          </a:xfrm>
          <a:prstGeom prst="rect">
            <a:avLst/>
          </a:prstGeom>
          <a:solidFill>
            <a:srgbClr val="2a2d35"/>
          </a:solidFill>
          <a:ln w="6350">
            <a:solidFill>
              <a:srgbClr val="5b8def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892040" y="3163824"/>
            <a:ext cx="54864" cy="1308264"/>
          </a:xfrm>
          <a:prstGeom prst="rect">
            <a:avLst/>
          </a:prstGeom>
          <a:solidFill>
            <a:srgbClr val="7a8394"/>
          </a:solidFill>
          <a:ln/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074920" y="3291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1300" b="1">
                <a:solidFill>
                  <a:srgbClr val="5b8def"/>
                </a:solidFill>
                <a:latin typeface="Consolas"/>
                <a:ea typeface="Consolas"/>
                <a:cs typeface="Consolas"/>
              </a:rPr>
              <a:t>코드 리팩토링 검토</a:t>
            </a:r>
            <a:endParaRPr lang="en-US" sz="1300" b="1">
              <a:solidFill>
                <a:srgbClr val="5b8de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074920" y="3374808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342900" lvl="0" indent="-342900">
              <a:lnSpc>
                <a:spcPct val="155000"/>
              </a:lnSpc>
              <a:buSzPct val="100000"/>
              <a:buChar char="•"/>
              <a:defRPr/>
            </a:pPr>
            <a:r>
              <a:rPr lang="en-US" sz="115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"이 구조가 합리적인가?", "더 효율적인 방법은?"</a:t>
            </a:r>
            <a:endParaRPr lang="en-US" sz="1150">
              <a:solidFill>
                <a:srgbClr val="b0b8c8"/>
              </a:solidFill>
              <a:latin typeface="Calibri"/>
              <a:ea typeface="Calibri"/>
              <a:cs typeface="Calibri"/>
            </a:endParaRPr>
          </a:p>
          <a:p>
            <a:pPr marL="342900" lvl="0" indent="-342900">
              <a:lnSpc>
                <a:spcPct val="155000"/>
              </a:lnSpc>
              <a:buSzPct val="100000"/>
              <a:buChar char="•"/>
              <a:defRPr/>
            </a:pPr>
            <a:r>
              <a:rPr lang="en-US" sz="115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내가 짠 코드의 개선점을 객관적으로 점검</a:t>
            </a:r>
            <a:endParaRPr lang="en-US" sz="1150">
              <a:solidFill>
                <a:srgbClr val="b0b8c8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0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1371600"/>
            <a:ext cx="9144000" cy="2286000"/>
          </a:xfrm>
          <a:prstGeom prst="rect">
            <a:avLst/>
          </a:prstGeom>
          <a:solidFill>
            <a:srgbClr val="2D3140">
              <a:alpha val="70000"/>
            </a:srgbClr>
          </a:solidFill>
          <a:ln w="12700">
            <a:solidFill>
              <a:srgbClr val="1E2025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457200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04. TECH — CHALLENGES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2514600" y="384048"/>
            <a:ext cx="365760" cy="0"/>
          </a:xfrm>
          <a:prstGeom prst="line">
            <a:avLst/>
          </a:prstGeom>
          <a:noFill/>
          <a:ln w="12700">
            <a:solidFill>
              <a:srgbClr val="5B8D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200" dirty="0"/>
          </a:p>
        </p:txBody>
      </p:sp>
      <p:sp>
        <p:nvSpPr>
          <p:cNvPr id="42" name="Text 40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7A83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DEADLINE  ·  Game Dev Presentation</a:t>
            </a:r>
            <a:endParaRPr lang="en-US" sz="800" dirty="0"/>
          </a:p>
        </p:txBody>
      </p:sp>
      <p:sp>
        <p:nvSpPr>
          <p:cNvPr id="43" name="직사각형 42"/>
          <p:cNvSpPr/>
          <p:nvPr/>
        </p:nvSpPr>
        <p:spPr>
          <a:xfrm>
            <a:off x="3088561" y="2083713"/>
            <a:ext cx="3215257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5000" b="1" kern="0" spc="300" dirty="0" smtClean="0">
                <a:solidFill>
                  <a:srgbClr val="F2F4F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게임 시연</a:t>
            </a:r>
            <a:endParaRPr lang="ko-KR" altLang="en-US" sz="5000" b="1" dirty="0"/>
          </a:p>
        </p:txBody>
      </p:sp>
    </p:spTree>
    <p:extLst>
      <p:ext uri="{BB962C8B-B14F-4D97-AF65-F5344CB8AC3E}">
        <p14:creationId xmlns:p14="http://schemas.microsoft.com/office/powerpoint/2010/main" val="2980271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9">
    <p:bg>
      <p:bgPr shadeToTitle="0">
        <a:solidFill>
          <a:srgbClr val="1e20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900" b="1" kern="0" spc="300">
                <a:solidFill>
                  <a:srgbClr val="5b8def"/>
                </a:solidFill>
                <a:latin typeface="Consolas"/>
                <a:ea typeface="Consolas"/>
                <a:cs typeface="Consolas"/>
              </a:rPr>
              <a:t>// 05. EVALUATION</a:t>
            </a:r>
            <a:endParaRPr lang="en-US" sz="900"/>
          </a:p>
        </p:txBody>
      </p:sp>
      <p:sp>
        <p:nvSpPr>
          <p:cNvPr id="3" name="Shape 1"/>
          <p:cNvSpPr/>
          <p:nvPr/>
        </p:nvSpPr>
        <p:spPr>
          <a:xfrm>
            <a:off x="2514600" y="384048"/>
            <a:ext cx="365760" cy="0"/>
          </a:xfrm>
          <a:prstGeom prst="line">
            <a:avLst/>
          </a:prstGeom>
          <a:noFill/>
          <a:ln w="12700">
            <a:solidFill>
              <a:srgbClr val="5b8def"/>
            </a:solidFill>
            <a:prstDash val="solid"/>
          </a:ln>
        </p:spPr>
        <p:txBody>
          <a:bodyPr wrap="square"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3600" b="1" kern="0" spc="300">
                <a:solidFill>
                  <a:srgbClr val="f2f4f8"/>
                </a:solidFill>
                <a:latin typeface="Impact"/>
                <a:ea typeface="Impact"/>
                <a:cs typeface="Impact"/>
              </a:rPr>
              <a:t>개발 결과 평가</a:t>
            </a:r>
            <a:endParaRPr lang="en-US" sz="3600" b="1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0"/>
          </a:xfrm>
          <a:prstGeom prst="line">
            <a:avLst/>
          </a:prstGeom>
          <a:noFill/>
          <a:ln w="12700">
            <a:solidFill>
              <a:srgbClr val="5b8def"/>
            </a:solidFill>
            <a:prstDash val="solid"/>
          </a:ln>
        </p:spPr>
        <p:txBody>
          <a:bodyPr wrap="square"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29200" cy="2286000"/>
          </a:xfrm>
          <a:prstGeom prst="rect">
            <a:avLst/>
          </a:prstGeom>
          <a:solidFill>
            <a:srgbClr val="2a2d35"/>
          </a:solidFill>
          <a:ln w="6350">
            <a:solidFill>
              <a:srgbClr val="7a8394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94360" y="1481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100" b="1" kern="0" spc="200">
                <a:solidFill>
                  <a:srgbClr val="5b8def"/>
                </a:solidFill>
                <a:latin typeface="Consolas"/>
                <a:ea typeface="Consolas"/>
                <a:cs typeface="Consolas"/>
              </a:rPr>
              <a:t>목표 달성 평가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4937760" cy="274320"/>
          </a:xfrm>
          <a:prstGeom prst="rect">
            <a:avLst/>
          </a:prstGeom>
          <a:solidFill>
            <a:srgbClr val="23262e"/>
          </a:solidFill>
          <a:ln w="12700">
            <a:solidFill>
              <a:srgbClr val="1e2025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150">
                <a:solidFill>
                  <a:srgbClr val="f2f4f8"/>
                </a:solidFill>
                <a:latin typeface="Calibri"/>
                <a:ea typeface="Calibri"/>
                <a:cs typeface="Calibri"/>
              </a:rPr>
              <a:t>NavMesh 몬스터 AI</a:t>
            </a:r>
            <a:endParaRPr lang="en-US" sz="1150"/>
          </a:p>
        </p:txBody>
      </p:sp>
      <p:sp>
        <p:nvSpPr>
          <p:cNvPr id="10" name="Text 8"/>
          <p:cNvSpPr/>
          <p:nvPr/>
        </p:nvSpPr>
        <p:spPr>
          <a:xfrm>
            <a:off x="4114800" y="18745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150" b="1">
                <a:solidFill>
                  <a:srgbClr val="3dd68c"/>
                </a:solidFill>
                <a:latin typeface="Calibri"/>
                <a:ea typeface="Calibri"/>
                <a:cs typeface="Calibri"/>
              </a:rPr>
              <a:t>✅ 달성</a:t>
            </a:r>
            <a:endParaRPr lang="en-US" sz="1150"/>
          </a:p>
        </p:txBody>
      </p:sp>
      <p:sp>
        <p:nvSpPr>
          <p:cNvPr id="11" name="Shape 9"/>
          <p:cNvSpPr/>
          <p:nvPr/>
        </p:nvSpPr>
        <p:spPr>
          <a:xfrm>
            <a:off x="502920" y="2130552"/>
            <a:ext cx="4937760" cy="274320"/>
          </a:xfrm>
          <a:prstGeom prst="rect">
            <a:avLst/>
          </a:prstGeom>
          <a:solidFill>
            <a:srgbClr val="2a2d35"/>
          </a:solidFill>
          <a:ln w="12700">
            <a:solidFill>
              <a:srgbClr val="1e2025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40080" y="21762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150">
                <a:solidFill>
                  <a:srgbClr val="f2f4f8"/>
                </a:solidFill>
                <a:latin typeface="Calibri"/>
                <a:ea typeface="Calibri"/>
                <a:cs typeface="Calibri"/>
              </a:rPr>
              <a:t>소음 반응형 추격</a:t>
            </a:r>
            <a:endParaRPr lang="en-US" sz="1150"/>
          </a:p>
        </p:txBody>
      </p:sp>
      <p:sp>
        <p:nvSpPr>
          <p:cNvPr id="13" name="Text 11"/>
          <p:cNvSpPr/>
          <p:nvPr/>
        </p:nvSpPr>
        <p:spPr>
          <a:xfrm>
            <a:off x="4114800" y="21762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150" b="1">
                <a:solidFill>
                  <a:srgbClr val="3dd68c"/>
                </a:solidFill>
                <a:latin typeface="Calibri"/>
                <a:ea typeface="Calibri"/>
                <a:cs typeface="Calibri"/>
              </a:rPr>
              <a:t>✅ 달성</a:t>
            </a:r>
            <a:endParaRPr lang="en-US" sz="1150"/>
          </a:p>
        </p:txBody>
      </p:sp>
      <p:sp>
        <p:nvSpPr>
          <p:cNvPr id="14" name="Shape 12"/>
          <p:cNvSpPr/>
          <p:nvPr/>
        </p:nvSpPr>
        <p:spPr>
          <a:xfrm>
            <a:off x="502920" y="2432304"/>
            <a:ext cx="4937760" cy="274320"/>
          </a:xfrm>
          <a:prstGeom prst="rect">
            <a:avLst/>
          </a:prstGeom>
          <a:solidFill>
            <a:srgbClr val="23262e"/>
          </a:solidFill>
          <a:ln w="12700">
            <a:solidFill>
              <a:srgbClr val="1e2025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40080" y="247802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150">
                <a:solidFill>
                  <a:srgbClr val="f2f4f8"/>
                </a:solidFill>
                <a:latin typeface="Calibri"/>
                <a:ea typeface="Calibri"/>
                <a:cs typeface="Calibri"/>
              </a:rPr>
              <a:t>아이템 수집 &amp; 귀환</a:t>
            </a:r>
            <a:endParaRPr lang="en-US" sz="1150"/>
          </a:p>
        </p:txBody>
      </p:sp>
      <p:sp>
        <p:nvSpPr>
          <p:cNvPr id="16" name="Text 14"/>
          <p:cNvSpPr/>
          <p:nvPr/>
        </p:nvSpPr>
        <p:spPr>
          <a:xfrm>
            <a:off x="4114800" y="247802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150" b="1">
                <a:solidFill>
                  <a:srgbClr val="3dd68c"/>
                </a:solidFill>
                <a:latin typeface="Calibri"/>
                <a:ea typeface="Calibri"/>
                <a:cs typeface="Calibri"/>
              </a:rPr>
              <a:t>✅ 달성</a:t>
            </a:r>
            <a:endParaRPr lang="en-US" sz="1150"/>
          </a:p>
        </p:txBody>
      </p:sp>
      <p:sp>
        <p:nvSpPr>
          <p:cNvPr id="17" name="Shape 15"/>
          <p:cNvSpPr/>
          <p:nvPr/>
        </p:nvSpPr>
        <p:spPr>
          <a:xfrm>
            <a:off x="502920" y="2734056"/>
            <a:ext cx="4937760" cy="274320"/>
          </a:xfrm>
          <a:prstGeom prst="rect">
            <a:avLst/>
          </a:prstGeom>
          <a:solidFill>
            <a:srgbClr val="2a2d35"/>
          </a:solidFill>
          <a:ln w="12700">
            <a:solidFill>
              <a:srgbClr val="1e2025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40080" y="27797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150">
                <a:solidFill>
                  <a:srgbClr val="f2f4f8"/>
                </a:solidFill>
                <a:latin typeface="Calibri"/>
                <a:ea typeface="Calibri"/>
                <a:cs typeface="Calibri"/>
              </a:rPr>
              <a:t>타이머 &amp; 게임 루프</a:t>
            </a:r>
            <a:endParaRPr lang="en-US" sz="1150"/>
          </a:p>
        </p:txBody>
      </p:sp>
      <p:sp>
        <p:nvSpPr>
          <p:cNvPr id="19" name="Text 17"/>
          <p:cNvSpPr/>
          <p:nvPr/>
        </p:nvSpPr>
        <p:spPr>
          <a:xfrm>
            <a:off x="4114800" y="277977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150" b="1">
                <a:solidFill>
                  <a:srgbClr val="3dd68c"/>
                </a:solidFill>
                <a:latin typeface="Calibri"/>
                <a:ea typeface="Calibri"/>
                <a:cs typeface="Calibri"/>
              </a:rPr>
              <a:t>✅ 달성</a:t>
            </a:r>
            <a:endParaRPr lang="en-US" sz="1150"/>
          </a:p>
        </p:txBody>
      </p:sp>
      <p:sp>
        <p:nvSpPr>
          <p:cNvPr id="20" name="Shape 18"/>
          <p:cNvSpPr/>
          <p:nvPr/>
        </p:nvSpPr>
        <p:spPr>
          <a:xfrm>
            <a:off x="502920" y="3035808"/>
            <a:ext cx="4937760" cy="274320"/>
          </a:xfrm>
          <a:prstGeom prst="rect">
            <a:avLst/>
          </a:prstGeom>
          <a:solidFill>
            <a:srgbClr val="23262e"/>
          </a:solidFill>
          <a:ln w="12700">
            <a:solidFill>
              <a:srgbClr val="1e2025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40080" y="30815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150">
                <a:solidFill>
                  <a:srgbClr val="f2f4f8"/>
                </a:solidFill>
                <a:latin typeface="Calibri"/>
                <a:ea typeface="Calibri"/>
                <a:cs typeface="Calibri"/>
              </a:rPr>
              <a:t>다중 몬스터 배치</a:t>
            </a:r>
            <a:endParaRPr lang="en-US" sz="1150"/>
          </a:p>
        </p:txBody>
      </p:sp>
      <p:sp>
        <p:nvSpPr>
          <p:cNvPr id="22" name="Text 20"/>
          <p:cNvSpPr/>
          <p:nvPr/>
        </p:nvSpPr>
        <p:spPr>
          <a:xfrm>
            <a:off x="4114800" y="30815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150" b="1">
                <a:solidFill>
                  <a:srgbClr val="e67e22"/>
                </a:solidFill>
                <a:latin typeface="Calibri"/>
                <a:ea typeface="Calibri"/>
                <a:cs typeface="Calibri"/>
              </a:rPr>
              <a:t>⚠ 미완성</a:t>
            </a:r>
            <a:endParaRPr lang="en-US" sz="1150"/>
          </a:p>
        </p:txBody>
      </p:sp>
      <p:sp>
        <p:nvSpPr>
          <p:cNvPr id="23" name="Shape 21"/>
          <p:cNvSpPr/>
          <p:nvPr/>
        </p:nvSpPr>
        <p:spPr>
          <a:xfrm>
            <a:off x="502920" y="3337560"/>
            <a:ext cx="4937760" cy="274320"/>
          </a:xfrm>
          <a:prstGeom prst="rect">
            <a:avLst/>
          </a:prstGeom>
          <a:solidFill>
            <a:srgbClr val="2a2d35"/>
          </a:solidFill>
          <a:ln w="12700">
            <a:solidFill>
              <a:srgbClr val="1e2025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40080" y="33832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ko-KR" altLang="en-US" sz="1150">
                <a:solidFill>
                  <a:srgbClr val="f2f4f8"/>
                </a:solidFill>
                <a:latin typeface="Calibri"/>
                <a:cs typeface="Calibri"/>
              </a:rPr>
              <a:t>문열기 시스템</a:t>
            </a:r>
            <a:endParaRPr lang="en-US" sz="1150"/>
          </a:p>
        </p:txBody>
      </p:sp>
      <p:sp>
        <p:nvSpPr>
          <p:cNvPr id="25" name="Text 23"/>
          <p:cNvSpPr/>
          <p:nvPr/>
        </p:nvSpPr>
        <p:spPr>
          <a:xfrm>
            <a:off x="4114800" y="33832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150" b="1">
                <a:solidFill>
                  <a:srgbClr val="e67e22"/>
                </a:solidFill>
                <a:latin typeface="Calibri"/>
                <a:ea typeface="Calibri"/>
                <a:cs typeface="Calibri"/>
              </a:rPr>
              <a:t>⚠ 미완성</a:t>
            </a:r>
            <a:endParaRPr lang="en-US" sz="1150"/>
          </a:p>
        </p:txBody>
      </p:sp>
      <p:sp>
        <p:nvSpPr>
          <p:cNvPr id="26" name="Shape 24"/>
          <p:cNvSpPr/>
          <p:nvPr/>
        </p:nvSpPr>
        <p:spPr>
          <a:xfrm>
            <a:off x="5669280" y="1417320"/>
            <a:ext cx="3017520" cy="2286000"/>
          </a:xfrm>
          <a:prstGeom prst="rect">
            <a:avLst/>
          </a:prstGeom>
          <a:solidFill>
            <a:srgbClr val="2a2d35"/>
          </a:solidFill>
          <a:ln w="6350">
            <a:solidFill>
              <a:srgbClr val="5b8def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5669280" y="1417320"/>
            <a:ext cx="54864" cy="2286000"/>
          </a:xfrm>
          <a:prstGeom prst="rect">
            <a:avLst/>
          </a:prstGeom>
          <a:solidFill>
            <a:srgbClr val="7a8394"/>
          </a:solidFill>
          <a:ln/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5852160" y="1508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 b="1" kern="0" spc="200">
                <a:solidFill>
                  <a:srgbClr val="5b8def"/>
                </a:solidFill>
                <a:latin typeface="Consolas"/>
                <a:ea typeface="Consolas"/>
                <a:cs typeface="Consolas"/>
              </a:rPr>
              <a:t>배운 점 &amp; 아쉬운 점</a:t>
            </a:r>
            <a:endParaRPr lang="en-US" sz="1000"/>
          </a:p>
        </p:txBody>
      </p:sp>
      <p:sp>
        <p:nvSpPr>
          <p:cNvPr id="29" name="Text 27"/>
          <p:cNvSpPr/>
          <p:nvPr/>
        </p:nvSpPr>
        <p:spPr>
          <a:xfrm>
            <a:off x="5852160" y="1874520"/>
            <a:ext cx="2651760" cy="1691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342900" lvl="0" indent="-342900">
              <a:lnSpc>
                <a:spcPct val="145000"/>
              </a:lnSpc>
              <a:buSzPct val="100000"/>
              <a:buChar char="•"/>
              <a:defRPr/>
            </a:pPr>
            <a:r>
              <a:rPr lang="en-US" sz="1050">
                <a:solidFill>
                  <a:srgbClr val="3dd68c"/>
                </a:solidFill>
                <a:latin typeface="Calibri"/>
                <a:ea typeface="Calibri"/>
                <a:cs typeface="Calibri"/>
              </a:rPr>
              <a:t>NavMesh 상태 머신의 엣지 케이스 처리 경험</a:t>
            </a:r>
            <a:endParaRPr lang="en-US" sz="1050">
              <a:solidFill>
                <a:srgbClr val="3dd68c"/>
              </a:solidFill>
              <a:latin typeface="Calibri"/>
              <a:ea typeface="Calibri"/>
              <a:cs typeface="Calibri"/>
            </a:endParaRPr>
          </a:p>
          <a:p>
            <a:pPr marL="342900" lvl="0" indent="-342900">
              <a:lnSpc>
                <a:spcPct val="145000"/>
              </a:lnSpc>
              <a:buSzPct val="100000"/>
              <a:buChar char="•"/>
              <a:defRPr/>
            </a:pPr>
            <a:r>
              <a:rPr lang="en-US" sz="1050">
                <a:solidFill>
                  <a:srgbClr val="3dd68c"/>
                </a:solidFill>
                <a:latin typeface="Calibri"/>
                <a:ea typeface="Calibri"/>
                <a:cs typeface="Calibri"/>
              </a:rPr>
              <a:t>Unity New Input System 구조 이해</a:t>
            </a:r>
            <a:endParaRPr lang="en-US" sz="1050">
              <a:solidFill>
                <a:srgbClr val="3dd68c"/>
              </a:solidFill>
              <a:latin typeface="Calibri"/>
              <a:ea typeface="Calibri"/>
              <a:cs typeface="Calibri"/>
            </a:endParaRPr>
          </a:p>
          <a:p>
            <a:pPr marL="342900" lvl="0" indent="-342900">
              <a:lnSpc>
                <a:spcPct val="145000"/>
              </a:lnSpc>
              <a:buSzPct val="100000"/>
              <a:buChar char="•"/>
              <a:defRPr/>
            </a:pPr>
            <a:r>
              <a:rPr lang="en-US" sz="1050">
                <a:solidFill>
                  <a:srgbClr val="3dd68c"/>
                </a:solidFill>
                <a:latin typeface="Calibri"/>
                <a:ea typeface="Calibri"/>
                <a:cs typeface="Calibri"/>
              </a:rPr>
              <a:t>3D 공간 오디오 설계 방식 습득</a:t>
            </a:r>
            <a:endParaRPr lang="en-US" sz="1050">
              <a:solidFill>
                <a:srgbClr val="3dd68c"/>
              </a:solidFill>
              <a:latin typeface="Calibri"/>
              <a:ea typeface="Calibri"/>
              <a:cs typeface="Calibri"/>
            </a:endParaRPr>
          </a:p>
          <a:p>
            <a:pPr marL="0" lvl="0" indent="0">
              <a:lnSpc>
                <a:spcPct val="145000"/>
              </a:lnSpc>
              <a:buNone/>
              <a:defRPr/>
            </a:pPr>
            <a:r>
              <a:rPr lang="en-US" sz="1050">
                <a:solidFill>
                  <a:srgbClr val="1e2025"/>
                </a:solidFill>
                <a:latin typeface="Calibri"/>
                <a:ea typeface="Calibri"/>
                <a:cs typeface="Calibri"/>
              </a:rPr>
              <a:t> </a:t>
            </a:r>
            <a:endParaRPr lang="en-US" sz="1050">
              <a:solidFill>
                <a:srgbClr val="1e2025"/>
              </a:solidFill>
              <a:latin typeface="Calibri"/>
              <a:ea typeface="Calibri"/>
              <a:cs typeface="Calibri"/>
            </a:endParaRPr>
          </a:p>
          <a:p>
            <a:pPr marL="342900" lvl="0" indent="-342900">
              <a:lnSpc>
                <a:spcPct val="145000"/>
              </a:lnSpc>
              <a:buSzPct val="100000"/>
              <a:buChar char="•"/>
              <a:defRPr/>
            </a:pPr>
            <a:r>
              <a:rPr lang="en-US" sz="1050">
                <a:solidFill>
                  <a:srgbClr val="7ba7ff"/>
                </a:solidFill>
                <a:latin typeface="Calibri"/>
                <a:ea typeface="Calibri"/>
                <a:cs typeface="Calibri"/>
              </a:rPr>
              <a:t>플레이 타임이 짧은 아쉬움</a:t>
            </a:r>
            <a:endParaRPr lang="en-US" sz="1050">
              <a:solidFill>
                <a:srgbClr val="7ba7ff"/>
              </a:solidFill>
              <a:latin typeface="Calibri"/>
              <a:ea typeface="Calibri"/>
              <a:cs typeface="Calibri"/>
            </a:endParaRPr>
          </a:p>
          <a:p>
            <a:pPr marL="342900" lvl="0" indent="-342900">
              <a:lnSpc>
                <a:spcPct val="145000"/>
              </a:lnSpc>
              <a:buSzPct val="100000"/>
              <a:buChar char="•"/>
              <a:defRPr/>
            </a:pPr>
            <a:r>
              <a:rPr lang="en-US" sz="1050">
                <a:solidFill>
                  <a:srgbClr val="7ba7ff"/>
                </a:solidFill>
                <a:latin typeface="Calibri"/>
                <a:ea typeface="Calibri"/>
                <a:cs typeface="Calibri"/>
              </a:rPr>
              <a:t>몬스터 다양성 부족</a:t>
            </a:r>
            <a:endParaRPr lang="en-US" sz="1050">
              <a:solidFill>
                <a:srgbClr val="7ba7ff"/>
              </a:solidFill>
              <a:latin typeface="Calibri"/>
              <a:ea typeface="Calibri"/>
              <a:cs typeface="Calibri"/>
            </a:endParaRPr>
          </a:p>
          <a:p>
            <a:pPr marL="342900" lvl="0" indent="-342900">
              <a:lnSpc>
                <a:spcPct val="145000"/>
              </a:lnSpc>
              <a:buSzPct val="100000"/>
              <a:buChar char="•"/>
              <a:defRPr/>
            </a:pPr>
            <a:r>
              <a:rPr lang="en-US" sz="1050">
                <a:solidFill>
                  <a:srgbClr val="7ba7ff"/>
                </a:solidFill>
                <a:latin typeface="Calibri"/>
                <a:ea typeface="Calibri"/>
                <a:cs typeface="Calibri"/>
              </a:rPr>
              <a:t>맵 완성도 </a:t>
            </a:r>
            <a:r>
              <a:rPr lang="ko-KR" altLang="en-US" sz="1050">
                <a:solidFill>
                  <a:srgbClr val="7ba7ff"/>
                </a:solidFill>
                <a:latin typeface="Calibri"/>
                <a:ea typeface="Calibri"/>
                <a:cs typeface="Calibri"/>
              </a:rPr>
              <a:t>및 디테일 부족</a:t>
            </a:r>
            <a:endParaRPr lang="en-US" sz="1050"/>
          </a:p>
        </p:txBody>
      </p:sp>
      <p:sp>
        <p:nvSpPr>
          <p:cNvPr id="30" name="Shape 28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solidFill>
            <a:srgbClr val="2d3140"/>
          </a:solidFill>
          <a:ln w="6350">
            <a:solidFill>
              <a:srgbClr val="5b8def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457200" y="3840480"/>
            <a:ext cx="54864" cy="777240"/>
          </a:xfrm>
          <a:prstGeom prst="rect">
            <a:avLst/>
          </a:prstGeom>
          <a:solidFill>
            <a:srgbClr val="7ba7ff"/>
          </a:solidFill>
          <a:ln/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40080" y="39044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ko-KR" altLang="en-US" sz="1000" b="1">
                <a:solidFill>
                  <a:srgbClr val="7ba7ff"/>
                </a:solidFill>
                <a:latin typeface="Consolas"/>
                <a:ea typeface="Consolas"/>
                <a:cs typeface="Consolas"/>
              </a:rPr>
              <a:t>고치지 못한 버그</a:t>
            </a:r>
            <a:endParaRPr lang="ko-KR" altLang="en-US" sz="1000" b="1">
              <a:solidFill>
                <a:srgbClr val="7ba7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40080" y="416052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ko-KR" altLang="en-US" sz="120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에셋을 AI 도움받아 통합했는데</a:t>
            </a:r>
            <a:r>
              <a:rPr lang="en-US" altLang="ko-KR" sz="120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,</a:t>
            </a:r>
            <a:r>
              <a:rPr lang="ko-KR" altLang="en-US" sz="120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 내부 구조를 완전히 파악하지 못해서 </a:t>
            </a:r>
            <a:endParaRPr lang="ko-KR" altLang="en-US" sz="1200">
              <a:solidFill>
                <a:srgbClr val="b0b8c8"/>
              </a:solidFill>
              <a:latin typeface="Calibri"/>
              <a:ea typeface="Calibri"/>
              <a:cs typeface="Calibri"/>
            </a:endParaRPr>
          </a:p>
          <a:p>
            <a:pPr marL="0" lvl="0" indent="0">
              <a:buNone/>
              <a:defRPr/>
            </a:pPr>
            <a:r>
              <a:rPr lang="ko-KR" altLang="en-US" sz="120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메인이랑 인게임 설정 패널 스위치가 반대로 뜨는 문제가 남아있음</a:t>
            </a:r>
            <a:endParaRPr lang="ko-KR" altLang="en-US" sz="1200">
              <a:solidFill>
                <a:srgbClr val="b0b8c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800" kern="0" spc="200">
                <a:solidFill>
                  <a:srgbClr val="7a8394"/>
                </a:solidFill>
                <a:latin typeface="Consolas"/>
                <a:ea typeface="Consolas"/>
                <a:cs typeface="Consolas"/>
              </a:rPr>
              <a:t>DEADLINE  ·  Game Dev Presentation</a:t>
            </a:r>
            <a:endParaRPr lang="en-US" sz="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6">
    <p:bg>
      <p:bgPr shadeToTitle="0">
        <a:solidFill>
          <a:srgbClr val="1e20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20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800" kern="0" spc="200">
                <a:solidFill>
                  <a:srgbClr val="7a8394"/>
                </a:solidFill>
                <a:latin typeface="Consolas"/>
                <a:ea typeface="Consolas"/>
                <a:cs typeface="Consolas"/>
              </a:rPr>
              <a:t>DEADLINE  ·  Game Dev Presentation</a:t>
            </a:r>
            <a:endParaRPr lang="en-US" sz="800"/>
          </a:p>
        </p:txBody>
      </p:sp>
      <p:sp>
        <p:nvSpPr>
          <p:cNvPr id="2" name="Text 0"/>
          <p:cNvSpPr/>
          <p:nvPr/>
        </p:nvSpPr>
        <p:spPr>
          <a:xfrm>
            <a:off x="457200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900" b="1" kern="0" spc="300">
                <a:solidFill>
                  <a:srgbClr val="5b8def"/>
                </a:solidFill>
                <a:latin typeface="Consolas"/>
                <a:ea typeface="Consolas"/>
                <a:cs typeface="Consolas"/>
              </a:rPr>
              <a:t>// 05. </a:t>
            </a:r>
            <a:r>
              <a:rPr lang="en-US" altLang="ko-KR" sz="900" b="1" kern="0" spc="300">
                <a:solidFill>
                  <a:srgbClr val="5b8def"/>
                </a:solidFill>
                <a:latin typeface="Consolas"/>
                <a:ea typeface="Consolas"/>
                <a:cs typeface="Consolas"/>
              </a:rPr>
              <a:t>AI</a:t>
            </a:r>
            <a:r>
              <a:rPr lang="ko-KR" altLang="en-US" sz="900" b="1" kern="0" spc="300">
                <a:solidFill>
                  <a:srgbClr val="5b8def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altLang="ko-KR" sz="900" b="1" kern="0" spc="300">
                <a:solidFill>
                  <a:srgbClr val="5b8def"/>
                </a:solidFill>
                <a:latin typeface="Consolas"/>
                <a:ea typeface="Consolas"/>
                <a:cs typeface="Consolas"/>
              </a:rPr>
              <a:t>USAGE 	   REVIEWS</a:t>
            </a:r>
            <a:endParaRPr lang="en-US" altLang="ko-KR" sz="900" b="1" kern="0" spc="300">
              <a:solidFill>
                <a:srgbClr val="5b8de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514600" y="384048"/>
            <a:ext cx="365760" cy="0"/>
          </a:xfrm>
          <a:prstGeom prst="line">
            <a:avLst/>
          </a:prstGeom>
          <a:noFill/>
          <a:ln w="12700">
            <a:solidFill>
              <a:srgbClr val="5b8def"/>
            </a:solidFill>
            <a:prstDash val="solid"/>
          </a:ln>
        </p:spPr>
        <p:txBody>
          <a:bodyPr wrap="square"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altLang="ko-KR" sz="3600" kern="0" spc="300">
                <a:solidFill>
                  <a:srgbClr val="f2f4f8"/>
                </a:solidFill>
                <a:latin typeface="Impact"/>
                <a:ea typeface="Impact"/>
                <a:cs typeface="Impact"/>
              </a:rPr>
              <a:t>AI</a:t>
            </a:r>
            <a:r>
              <a:rPr lang="ko-KR" altLang="en-US" sz="3600" kern="0" spc="300">
                <a:solidFill>
                  <a:srgbClr val="f2f4f8"/>
                </a:solidFill>
                <a:latin typeface="Impact"/>
                <a:ea typeface="Impact"/>
                <a:cs typeface="Impact"/>
              </a:rPr>
              <a:t>사용후기</a:t>
            </a:r>
            <a:endParaRPr lang="ko-KR" altLang="en-US" sz="3600" kern="0" spc="300">
              <a:solidFill>
                <a:srgbClr val="f2f4f8"/>
              </a:solidFill>
              <a:latin typeface="Impact"/>
              <a:ea typeface="Impact"/>
              <a:cs typeface="Impact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0"/>
          </a:xfrm>
          <a:prstGeom prst="line">
            <a:avLst/>
          </a:prstGeom>
          <a:noFill/>
          <a:ln w="12700">
            <a:solidFill>
              <a:srgbClr val="5b8def"/>
            </a:solidFill>
            <a:prstDash val="solid"/>
          </a:ln>
        </p:spPr>
        <p:txBody>
          <a:bodyPr wrap="square"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326551" cy="1668780"/>
          </a:xfrm>
          <a:prstGeom prst="rect">
            <a:avLst/>
          </a:prstGeom>
          <a:solidFill>
            <a:srgbClr val="2a2d35"/>
          </a:solidFill>
          <a:ln w="6350">
            <a:solidFill>
              <a:srgbClr val="5b8def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54863" cy="1668780"/>
          </a:xfrm>
          <a:prstGeom prst="rect">
            <a:avLst/>
          </a:prstGeom>
          <a:solidFill>
            <a:srgbClr val="7ba7ff"/>
          </a:solidFill>
          <a:ln/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080" y="1508760"/>
            <a:ext cx="576878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ko-KR" altLang="en-US" sz="1300" b="1">
                <a:solidFill>
                  <a:srgbClr val="5b8def"/>
                </a:solidFill>
                <a:latin typeface="Consolas"/>
                <a:ea typeface="Consolas"/>
                <a:cs typeface="Consolas"/>
              </a:rPr>
              <a:t>장점</a:t>
            </a:r>
            <a:endParaRPr lang="ko-KR" altLang="en-US" sz="1300" b="1">
              <a:solidFill>
                <a:srgbClr val="5b8de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1143672" cy="10972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342900" lvl="0" indent="-342900">
              <a:lnSpc>
                <a:spcPct val="155000"/>
              </a:lnSpc>
              <a:buSzPct val="100000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1150" b="0" i="0" u="none" strike="noStrike" kern="1200" cap="none" spc="0" normalizeH="0" baseline="0" mc:Ignorable="hp" hp:hslEmbossed="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개발 속도</a:t>
            </a:r>
            <a:endParaRPr xmlns:mc="http://schemas.openxmlformats.org/markup-compatibility/2006" xmlns:hp="http://schemas.haansoft.com/office/presentation/8.0" kumimoji="0" lang="ko-KR" altLang="en-US" sz="1150" b="0" i="0" u="none" strike="noStrike" kern="1200" cap="none" spc="0" normalizeH="0" baseline="0" mc:Ignorable="hp" hp:hslEmbossed="0">
              <a:solidFill>
                <a:srgbClr val="b0b8c8"/>
              </a:solidFill>
              <a:latin typeface="Calibri"/>
              <a:ea typeface="Calibri"/>
              <a:cs typeface="Calibri"/>
            </a:endParaRPr>
          </a:p>
          <a:p>
            <a:pPr marL="342900" lvl="0" indent="-342900">
              <a:lnSpc>
                <a:spcPct val="155000"/>
              </a:lnSpc>
              <a:buSzPct val="100000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1150" b="0" i="0" u="none" strike="noStrike" kern="1200" cap="none" spc="0" normalizeH="0" baseline="0" mc:Ignorable="hp" hp:hslEmbossed="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즉각 학습</a:t>
            </a:r>
            <a:endParaRPr xmlns:mc="http://schemas.openxmlformats.org/markup-compatibility/2006" xmlns:hp="http://schemas.haansoft.com/office/presentation/8.0" kumimoji="0" lang="ko-KR" altLang="en-US" sz="1150" b="0" i="0" u="none" strike="noStrike" kern="1200" cap="none" spc="0" normalizeH="0" baseline="0" mc:Ignorable="hp" hp:hslEmbossed="0">
              <a:solidFill>
                <a:srgbClr val="b0b8c8"/>
              </a:solidFill>
              <a:latin typeface="Calibri"/>
              <a:ea typeface="Calibri"/>
              <a:cs typeface="Calibri"/>
            </a:endParaRPr>
          </a:p>
          <a:p>
            <a:pPr marL="342900" lvl="0" indent="-342900">
              <a:lnSpc>
                <a:spcPct val="155000"/>
              </a:lnSpc>
              <a:buSzPct val="100000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1150" b="0" i="0" u="none" strike="noStrike" kern="1200" cap="none" spc="0" normalizeH="0" baseline="0" mc:Ignorable="hp" hp:hslEmbossed="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코드 리뷰</a:t>
            </a:r>
            <a:endParaRPr xmlns:mc="http://schemas.openxmlformats.org/markup-compatibility/2006" xmlns:hp="http://schemas.haansoft.com/office/presentation/8.0" kumimoji="0" lang="ko-KR" altLang="en-US" sz="1150" b="0" i="0" u="none" strike="noStrike" kern="1200" cap="none" spc="0" normalizeH="0" baseline="0" mc:Ignorable="hp" hp:hslEmbossed="0">
              <a:solidFill>
                <a:srgbClr val="b0b8c8"/>
              </a:solidFill>
              <a:latin typeface="Calibri"/>
              <a:ea typeface="Calibri"/>
              <a:cs typeface="Calibri"/>
            </a:endParaRPr>
          </a:p>
          <a:p>
            <a:pPr marL="342900" lvl="0" indent="-342900">
              <a:lnSpc>
                <a:spcPct val="155000"/>
              </a:lnSpc>
              <a:buSzPct val="100000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1150" b="0" i="0" u="none" strike="noStrike" kern="1200" cap="none" spc="0" normalizeH="0" baseline="0" mc:Ignorable="hp" hp:hslEmbossed="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막힘 해소</a:t>
            </a:r>
            <a:endParaRPr xmlns:mc="http://schemas.openxmlformats.org/markup-compatibility/2006" xmlns:hp="http://schemas.haansoft.com/office/presentation/8.0" kumimoji="0" lang="ko-KR" altLang="en-US" sz="1150" b="0" i="0" u="none" strike="noStrike" kern="1200" cap="none" spc="0" normalizeH="0" baseline="0" mc:Ignorable="hp" hp:hslEmbossed="0">
              <a:solidFill>
                <a:srgbClr val="b0b8c8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3" name="그림 2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378573" y="1417320"/>
            <a:ext cx="5491102" cy="3337560"/>
          </a:xfrm>
          <a:prstGeom prst="rect">
            <a:avLst/>
          </a:prstGeom>
        </p:spPr>
      </p:pic>
      <p:sp>
        <p:nvSpPr>
          <p:cNvPr id="27" name="Shape 4"/>
          <p:cNvSpPr/>
          <p:nvPr/>
        </p:nvSpPr>
        <p:spPr>
          <a:xfrm>
            <a:off x="1923154" y="1417320"/>
            <a:ext cx="1648385" cy="1668780"/>
          </a:xfrm>
          <a:prstGeom prst="rect">
            <a:avLst/>
          </a:prstGeom>
          <a:solidFill>
            <a:srgbClr val="2a2d35"/>
          </a:solidFill>
          <a:ln w="6350">
            <a:solidFill>
              <a:srgbClr val="ff0000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8" name="Shape 5"/>
          <p:cNvSpPr/>
          <p:nvPr/>
        </p:nvSpPr>
        <p:spPr>
          <a:xfrm>
            <a:off x="1923154" y="1417320"/>
            <a:ext cx="45932" cy="1668780"/>
          </a:xfrm>
          <a:prstGeom prst="rect">
            <a:avLst/>
          </a:prstGeom>
          <a:solidFill>
            <a:srgbClr val="ff0000"/>
          </a:solidFill>
          <a:ln/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9" name="Text 6"/>
          <p:cNvSpPr/>
          <p:nvPr/>
        </p:nvSpPr>
        <p:spPr>
          <a:xfrm>
            <a:off x="2069940" y="1508760"/>
            <a:ext cx="576878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ko-KR" altLang="en-US" sz="1300" b="1">
                <a:solidFill>
                  <a:srgbClr val="ff0000"/>
                </a:solidFill>
                <a:latin typeface="Consolas"/>
                <a:ea typeface="Consolas"/>
                <a:cs typeface="Consolas"/>
              </a:rPr>
              <a:t>단점</a:t>
            </a:r>
            <a:endParaRPr lang="ko-KR" altLang="en-US" sz="1300" b="1">
              <a:solidFill>
                <a:srgbClr val="ff0000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0" name="Text 7"/>
          <p:cNvSpPr/>
          <p:nvPr/>
        </p:nvSpPr>
        <p:spPr>
          <a:xfrm>
            <a:off x="2069940" y="1874520"/>
            <a:ext cx="1501599" cy="10972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342900" lvl="0" indent="-342900">
              <a:lnSpc>
                <a:spcPct val="155000"/>
              </a:lnSpc>
              <a:buSzPct val="100000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1150" b="0" i="0" u="none" strike="noStrike" kern="1200" cap="none" spc="0" normalizeH="0" baseline="0" mc:Ignorable="hp" hp:hslEmbossed="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의존의 일상화</a:t>
            </a:r>
            <a:endParaRPr xmlns:mc="http://schemas.openxmlformats.org/markup-compatibility/2006" xmlns:hp="http://schemas.haansoft.com/office/presentation/8.0" kumimoji="0" lang="ko-KR" altLang="en-US" sz="1150" b="0" i="0" u="none" strike="noStrike" kern="1200" cap="none" spc="0" normalizeH="0" baseline="0" mc:Ignorable="hp" hp:hslEmbossed="0">
              <a:solidFill>
                <a:srgbClr val="b0b8c8"/>
              </a:solidFill>
              <a:latin typeface="Calibri"/>
              <a:ea typeface="Calibri"/>
              <a:cs typeface="Calibri"/>
            </a:endParaRPr>
          </a:p>
          <a:p>
            <a:pPr marL="342900" lvl="0" indent="-342900">
              <a:lnSpc>
                <a:spcPct val="155000"/>
              </a:lnSpc>
              <a:buSzPct val="100000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1150" b="0" i="0" u="none" strike="noStrike" kern="1200" cap="none" spc="0" normalizeH="0" baseline="0" mc:Ignorable="hp" hp:hslEmbossed="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호환성 블랙박스</a:t>
            </a:r>
            <a:endParaRPr xmlns:mc="http://schemas.openxmlformats.org/markup-compatibility/2006" xmlns:hp="http://schemas.haansoft.com/office/presentation/8.0" kumimoji="0" lang="ko-KR" altLang="en-US" sz="1150" b="0" i="0" u="none" strike="noStrike" kern="1200" cap="none" spc="0" normalizeH="0" baseline="0" mc:Ignorable="hp" hp:hslEmbossed="0">
              <a:solidFill>
                <a:srgbClr val="b0b8c8"/>
              </a:solidFill>
              <a:latin typeface="Calibri"/>
              <a:ea typeface="Calibri"/>
              <a:cs typeface="Calibri"/>
            </a:endParaRPr>
          </a:p>
          <a:p>
            <a:pPr marL="342900" lvl="0" indent="-342900">
              <a:lnSpc>
                <a:spcPct val="155000"/>
              </a:lnSpc>
              <a:buSzPct val="100000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1150" b="0" i="0" u="none" strike="noStrike" kern="1200" cap="none" spc="0" normalizeH="0" baseline="0" mc:Ignorable="hp" hp:hslEmbossed="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이해 없는 구현</a:t>
            </a:r>
            <a:endParaRPr xmlns:mc="http://schemas.openxmlformats.org/markup-compatibility/2006" xmlns:hp="http://schemas.haansoft.com/office/presentation/8.0" kumimoji="0" lang="ko-KR" altLang="en-US" sz="1150" b="0" i="0" u="none" strike="noStrike" kern="1200" cap="none" spc="0" normalizeH="0" baseline="0" mc:Ignorable="hp" hp:hslEmbossed="0">
              <a:solidFill>
                <a:srgbClr val="b0b8c8"/>
              </a:solidFill>
              <a:latin typeface="Calibri"/>
              <a:ea typeface="Calibri"/>
              <a:cs typeface="Calibri"/>
            </a:endParaRPr>
          </a:p>
          <a:p>
            <a:pPr marL="342900" lvl="0" indent="-342900">
              <a:lnSpc>
                <a:spcPct val="155000"/>
              </a:lnSpc>
              <a:buSzPct val="100000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1150" b="0" i="0" u="none" strike="noStrike" kern="1200" cap="none" spc="0" normalizeH="0" baseline="0" mc:Ignorable="hp" hp:hslEmbossed="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두 번 일하기</a:t>
            </a:r>
            <a:endParaRPr xmlns:mc="http://schemas.openxmlformats.org/markup-compatibility/2006" xmlns:hp="http://schemas.haansoft.com/office/presentation/8.0" kumimoji="0" lang="ko-KR" altLang="en-US" sz="1150" b="0" i="0" u="none" strike="noStrike" kern="1200" cap="none" spc="0" normalizeH="0" baseline="0" mc:Ignorable="hp" hp:hslEmbossed="0">
              <a:solidFill>
                <a:srgbClr val="b0b8c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" name="Shape 4"/>
          <p:cNvSpPr/>
          <p:nvPr/>
        </p:nvSpPr>
        <p:spPr>
          <a:xfrm>
            <a:off x="457200" y="3271221"/>
            <a:ext cx="3114339" cy="1323639"/>
          </a:xfrm>
          <a:prstGeom prst="rect">
            <a:avLst/>
          </a:prstGeom>
          <a:solidFill>
            <a:srgbClr val="2a2d35"/>
          </a:solidFill>
          <a:ln w="6350">
            <a:solidFill>
              <a:schemeClr val="accent3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32" name="Shape 5"/>
          <p:cNvSpPr/>
          <p:nvPr/>
        </p:nvSpPr>
        <p:spPr>
          <a:xfrm>
            <a:off x="457200" y="3271221"/>
            <a:ext cx="54864" cy="1323639"/>
          </a:xfrm>
          <a:prstGeom prst="rect">
            <a:avLst/>
          </a:prstGeom>
          <a:solidFill>
            <a:schemeClr val="accent3"/>
          </a:solidFill>
          <a:ln/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33" name="Text 6"/>
          <p:cNvSpPr/>
          <p:nvPr/>
        </p:nvSpPr>
        <p:spPr>
          <a:xfrm>
            <a:off x="645123" y="3474563"/>
            <a:ext cx="576878" cy="232357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ko-KR" altLang="en-US" sz="1300" b="1">
                <a:solidFill>
                  <a:schemeClr val="accent3"/>
                </a:solidFill>
                <a:latin typeface="Consolas"/>
                <a:ea typeface="Consolas"/>
                <a:cs typeface="Consolas"/>
              </a:rPr>
              <a:t>느낀점</a:t>
            </a:r>
            <a:endParaRPr lang="ko-KR" altLang="en-US" sz="1300" b="1">
              <a:solidFill>
                <a:schemeClr val="accent3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4" name="Text 7"/>
          <p:cNvSpPr/>
          <p:nvPr/>
        </p:nvSpPr>
        <p:spPr>
          <a:xfrm>
            <a:off x="640080" y="3706921"/>
            <a:ext cx="2926416" cy="79665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lnSpc>
                <a:spcPct val="155000"/>
              </a:lnSpc>
              <a:buSzPct val="100000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AI에게 코드를 맡길 순 있어도, 이해를 맡길 순 없다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b0b8c8"/>
              </a:solidFill>
              <a:latin typeface="Calibri"/>
              <a:ea typeface="Calibri"/>
              <a:cs typeface="Calibri"/>
            </a:endParaRPr>
          </a:p>
          <a:p>
            <a:pPr marL="0" lvl="0" indent="0">
              <a:lnSpc>
                <a:spcPct val="155000"/>
              </a:lnSpc>
              <a:buSzPct val="100000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AI</a:t>
            </a: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가 코드를 짜도</a:t>
            </a: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 그 코드의 책임은 개발자에게 있다</a:t>
            </a:r>
            <a:r>
              <a: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  <a:solidFill>
                  <a:srgbClr val="b0b8c8"/>
                </a:solidFill>
                <a:latin typeface="Calibri"/>
                <a:ea typeface="Calibri"/>
                <a:cs typeface="Calibri"/>
              </a:rPr>
              <a:t>.</a:t>
            </a:r>
            <a:endParaRPr xmlns:mc="http://schemas.openxmlformats.org/markup-compatibility/2006" xmlns:hp="http://schemas.haansoft.com/office/presentation/8.0" kumimoji="0" lang="en-US" altLang="ko-KR" sz="1000" b="0" i="0" u="none" strike="noStrike" kern="1200" cap="none" spc="0" normalizeH="0" baseline="0" mc:Ignorable="hp" hp:hslEmbossed="0">
              <a:solidFill>
                <a:srgbClr val="b0b8c8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0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0"/>
            <a:ext cx="9144000" cy="2286000"/>
          </a:xfrm>
          <a:prstGeom prst="rect">
            <a:avLst/>
          </a:prstGeom>
          <a:solidFill>
            <a:srgbClr val="2D3140">
              <a:alpha val="70000"/>
            </a:srgbClr>
          </a:solidFill>
          <a:ln w="12700">
            <a:solidFill>
              <a:srgbClr val="1E202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1645920"/>
            <a:ext cx="6400800" cy="0"/>
          </a:xfrm>
          <a:prstGeom prst="line">
            <a:avLst/>
          </a:prstGeom>
          <a:noFill/>
          <a:ln w="19050">
            <a:solidFill>
              <a:srgbClr val="5B8D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3383280"/>
            <a:ext cx="6400800" cy="0"/>
          </a:xfrm>
          <a:prstGeom prst="line">
            <a:avLst/>
          </a:prstGeom>
          <a:noFill/>
          <a:ln w="19050">
            <a:solidFill>
              <a:srgbClr val="5B8D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1737360"/>
            <a:ext cx="9144000" cy="1371600"/>
          </a:xfrm>
          <a:prstGeom prst="rect">
            <a:avLst/>
          </a:prstGeom>
          <a:noFill/>
          <a:ln/>
          <a:effectLst>
            <a:outerShdw blurRad="127000" dist="25400" dir="8100000" algn="bl" rotWithShape="0">
              <a:srgbClr val="00000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0" kern="0" spc="1600" dirty="0">
                <a:solidFill>
                  <a:srgbClr val="F2F4F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Q &amp; A</a:t>
            </a:r>
            <a:endParaRPr lang="en-US" sz="8800" dirty="0"/>
          </a:p>
        </p:txBody>
      </p:sp>
      <p:sp>
        <p:nvSpPr>
          <p:cNvPr id="6" name="Text 4"/>
          <p:cNvSpPr/>
          <p:nvPr/>
        </p:nvSpPr>
        <p:spPr>
          <a:xfrm>
            <a:off x="0" y="3585556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47548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7A83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DEADLINE  ·  Unity First-Person Horror Game  ·  </a:t>
            </a:r>
            <a:r>
              <a:rPr lang="en-US" sz="900" kern="0" spc="200" dirty="0" smtClean="0">
                <a:solidFill>
                  <a:srgbClr val="7A83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PptxGenJS</ep:Company>
  <ep:Words>886</ep:Words>
  <ep:PresentationFormat>화면 슬라이드 쇼(16:9)</ep:PresentationFormat>
  <ep:Paragraphs>259</ep:Paragraphs>
  <ep:Slides>19</ep:Slides>
  <ep:Notes>19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ep:HeadingPairs>
  <ep:TitlesOfParts>
    <vt:vector size="20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2026-04-29T03:59:43.000</dcterms:created>
  <dc:creator>Developer</dc:creator>
  <cp:lastModifiedBy>PC</cp:lastModifiedBy>
  <dcterms:modified xsi:type="dcterms:W3CDTF">2026-04-29T17:14:58.503</dcterms:modified>
  <cp:revision>71</cp:revision>
  <dc:subject>PptxGenJS Presentation</dc:subject>
  <dc:title>Deadline - Horror Game Presentation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